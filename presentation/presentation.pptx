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4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2860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DBA25A"/>
                </a:solidFill>
                <a:latin typeface="Consolas"/>
              </a:rPr>
              <a:t>DATA QUALITY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697480"/>
            <a:ext cx="105156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1">
                <a:solidFill>
                  <a:srgbClr val="EDE6D9"/>
                </a:solidFill>
                <a:latin typeface="Segoe UI Semibold"/>
              </a:rPr>
              <a:t>Качество данных в контуре</a:t>
            </a:r>
          </a:p>
          <a:p>
            <a:pPr algn="l">
              <a:lnSpc>
                <a:spcPct val="105000"/>
              </a:lnSpc>
            </a:pPr>
            <a:r>
              <a:rPr sz="3800" b="1">
                <a:solidFill>
                  <a:srgbClr val="EDE6D9"/>
                </a:solidFill>
                <a:latin typeface="Segoe UI Semibold"/>
              </a:rPr>
              <a:t>приёмки ЕГАИС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1605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A89C88"/>
                </a:solidFill>
                <a:latin typeface="Segoe UI"/>
              </a:rPr>
              <a:t>Аудит витрины · расследование дефекта · прототип мониторинга · стратегия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03504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756A5A"/>
                </a:solidFill>
                <a:latin typeface="Consolas"/>
              </a:rPr>
              <a:t>Проектная работа · Data Quality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4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DBA25A"/>
                </a:solidFill>
                <a:latin typeface="Segoe UI"/>
              </a:rPr>
              <a:t>ШАГ 1 · КОНТЕКСТ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DE6D9"/>
                </a:solidFill>
                <a:latin typeface="Segoe UI Semibold"/>
              </a:rPr>
              <a:t>Почему это важно для нас как оператора системы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67665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550">
                <a:solidFill>
                  <a:srgbClr val="A89C88"/>
                </a:solidFill>
                <a:latin typeface="Segoe UI"/>
              </a:rPr>
              <a:t>―  5 000 организаций передают в ЕГАИС складские операции; на нашей витрине строятся сверка деклараций, отраслевая статистика и основания для контрольных мероприятий.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550">
                <a:solidFill>
                  <a:srgbClr val="A89C88"/>
                </a:solidFill>
                <a:latin typeface="Segoe UI"/>
              </a:rPr>
              <a:t>―  Принятый от организаций поток проверен и целостен — значит дефекты витрины возникли внутри нашего контура.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550">
                <a:solidFill>
                  <a:srgbClr val="A89C88"/>
                </a:solidFill>
                <a:latin typeface="Segoe UI"/>
              </a:rPr>
              <a:t>―  Искажённый код организации → операцию нельзя сопоставить с реестром лицензиатов; для ИП это ещё и неточные персональные данные (152-ФЗ).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550">
                <a:solidFill>
                  <a:srgbClr val="A89C88"/>
                </a:solidFill>
                <a:latin typeface="Segoe UI"/>
              </a:rPr>
              <a:t>―  Выделенной DQ-функции нет, мониторинга не было — дефект жил в витрине месяцами и не был замечен.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0" y="1737360"/>
            <a:ext cx="3749039" cy="4572000"/>
          </a:xfrm>
          <a:prstGeom prst="roundRect">
            <a:avLst>
              <a:gd name="adj" fmla="val 6000"/>
            </a:avLst>
          </a:prstGeom>
          <a:solidFill>
            <a:srgbClr val="1D1A14"/>
          </a:solidFill>
          <a:ln w="12700">
            <a:solidFill>
              <a:srgbClr val="332E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1000" y="1965960"/>
            <a:ext cx="3291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756A5A"/>
                </a:solidFill>
                <a:latin typeface="Consolas"/>
              </a:rPr>
              <a:t>ДОМЕН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1000" y="2331720"/>
            <a:ext cx="329184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>
                <a:solidFill>
                  <a:srgbClr val="DBA25A"/>
                </a:solidFill>
                <a:latin typeface="Segoe UI Semibold"/>
              </a:rPr>
              <a:t>Государственный учёт</a:t>
            </a:r>
          </a:p>
          <a:p>
            <a:pPr algn="l">
              <a:lnSpc>
                <a:spcPct val="110000"/>
              </a:lnSpc>
            </a:pPr>
            <a:r>
              <a:rPr sz="2000" b="1">
                <a:solidFill>
                  <a:srgbClr val="DBA25A"/>
                </a:solidFill>
                <a:latin typeface="Segoe UI Semibold"/>
              </a:rPr>
              <a:t>оборота алкоголя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1000" y="3840480"/>
            <a:ext cx="3291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756A5A"/>
                </a:solidFill>
                <a:latin typeface="Consolas"/>
              </a:rPr>
              <a:t>ПРИЁМКА / ВИТРИНА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1000" y="4206240"/>
            <a:ext cx="329184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A89C88"/>
                </a:solidFill>
                <a:latin typeface="Consolas"/>
              </a:rPr>
              <a:t>list_doc (приёмка)</a:t>
            </a:r>
          </a:p>
          <a:p>
            <a:pPr algn="l">
              <a:lnSpc>
                <a:spcPct val="140000"/>
              </a:lnSpc>
            </a:pPr>
            <a:r>
              <a:rPr sz="1500" b="0">
                <a:solidFill>
                  <a:srgbClr val="A89C88"/>
                </a:solidFill>
                <a:latin typeface="Consolas"/>
              </a:rPr>
              <a:t>→ doc_oper (витрина)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75720" y="6473952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756A5A"/>
                </a:solidFill>
                <a:latin typeface="Consola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4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DBA25A"/>
                </a:solidFill>
                <a:latin typeface="Segoe UI"/>
              </a:rPr>
              <a:t>ШАГ 2 · ПРОФИЛИРОВАНИЕ И КЛАССИФИКАЦИЯ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DE6D9"/>
                </a:solidFill>
                <a:latin typeface="Segoe UI Semibold"/>
              </a:rPr>
              <a:t>Что показал аудит: шесть проблем и их масштаб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91640"/>
          <a:ext cx="10881360" cy="342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"/>
                <a:gridCol w="4663440"/>
                <a:gridCol w="1965960"/>
                <a:gridCol w="2377440"/>
                <a:gridCol w="1463040"/>
              </a:tblGrid>
              <a:tr h="489857">
                <a:tc>
                  <a:txBody>
                    <a:bodyPr/>
                    <a:lstStyle/>
                    <a:p>
                      <a:pPr algn="l"/>
                      <a:r>
                        <a:rPr b="1" sz="1150">
                          <a:solidFill>
                            <a:srgbClr val="EDE6D9"/>
                          </a:solidFill>
                          <a:latin typeface="Segoe UI"/>
                        </a:rPr>
                        <a:t>#</a:t>
                      </a:r>
                    </a:p>
                  </a:txBody>
                  <a:tcPr>
                    <a:solidFill>
                      <a:srgbClr val="332E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50">
                          <a:solidFill>
                            <a:srgbClr val="EDE6D9"/>
                          </a:solidFill>
                          <a:latin typeface="Segoe UI"/>
                        </a:rPr>
                        <a:t>Проблема</a:t>
                      </a:r>
                    </a:p>
                  </a:txBody>
                  <a:tcPr>
                    <a:solidFill>
                      <a:srgbClr val="332E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50">
                          <a:solidFill>
                            <a:srgbClr val="EDE6D9"/>
                          </a:solidFill>
                          <a:latin typeface="Segoe UI"/>
                        </a:rPr>
                        <a:t>Класс DQ</a:t>
                      </a:r>
                    </a:p>
                  </a:txBody>
                  <a:tcPr>
                    <a:solidFill>
                      <a:srgbClr val="332E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50">
                          <a:solidFill>
                            <a:srgbClr val="EDE6D9"/>
                          </a:solidFill>
                          <a:latin typeface="Segoe UI"/>
                        </a:rPr>
                        <a:t>Масштаб</a:t>
                      </a:r>
                    </a:p>
                  </a:txBody>
                  <a:tcPr>
                    <a:solidFill>
                      <a:srgbClr val="332E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50">
                          <a:solidFill>
                            <a:srgbClr val="EDE6D9"/>
                          </a:solidFill>
                          <a:latin typeface="Segoe UI"/>
                        </a:rPr>
                        <a:t>Критичность</a:t>
                      </a:r>
                    </a:p>
                  </a:txBody>
                  <a:tcPr>
                    <a:solidFill>
                      <a:srgbClr val="332E24"/>
                    </a:solidFill>
                  </a:tcPr>
                </a:tc>
              </a:tr>
              <a:tr h="489857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A89C88"/>
                          </a:solidFill>
                          <a:latin typeface="Consolas"/>
                        </a:rPr>
                        <a:t>1</a:t>
                      </a:r>
                    </a:p>
                  </a:txBody>
                  <a:tcPr>
                    <a:solidFill>
                      <a:srgbClr val="1D1A1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A89C88"/>
                          </a:solidFill>
                          <a:latin typeface="Consolas"/>
                        </a:rPr>
                        <a:t>Принятые операции не дошли до витрины при загрузке</a:t>
                      </a:r>
                    </a:p>
                  </a:txBody>
                  <a:tcPr>
                    <a:solidFill>
                      <a:srgbClr val="1D1A1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A89C88"/>
                          </a:solidFill>
                          <a:latin typeface="Consolas"/>
                        </a:rPr>
                        <a:t>Полнота (загрузка)</a:t>
                      </a:r>
                    </a:p>
                  </a:txBody>
                  <a:tcPr>
                    <a:solidFill>
                      <a:srgbClr val="1D1A1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A89C88"/>
                          </a:solidFill>
                          <a:latin typeface="Consolas"/>
                        </a:rPr>
                        <a:t>100 000 операций · 10% потока</a:t>
                      </a:r>
                    </a:p>
                  </a:txBody>
                  <a:tcPr>
                    <a:solidFill>
                      <a:srgbClr val="1D1A1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A89C88"/>
                          </a:solidFill>
                          <a:latin typeface="Consolas"/>
                        </a:rPr>
                        <a:t>Критичная</a:t>
                      </a:r>
                    </a:p>
                  </a:txBody>
                  <a:tcPr>
                    <a:solidFill>
                      <a:srgbClr val="1D1A14"/>
                    </a:solidFill>
                  </a:tcPr>
                </a:tc>
              </a:tr>
              <a:tr h="489857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A89C88"/>
                          </a:solidFill>
                          <a:latin typeface="Consolas"/>
                        </a:rPr>
                        <a:t>2</a:t>
                      </a:r>
                    </a:p>
                  </a:txBody>
                  <a:tcPr>
                    <a:solidFill>
                      <a:srgbClr val="1D1A1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A89C88"/>
                          </a:solidFill>
                          <a:latin typeface="Consolas"/>
                        </a:rPr>
                        <a:t>Код организации теряет ведущий 0 при ручной довставке</a:t>
                      </a:r>
                    </a:p>
                  </a:txBody>
                  <a:tcPr>
                    <a:solidFill>
                      <a:srgbClr val="1D1A1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A89C88"/>
                          </a:solidFill>
                          <a:latin typeface="Consolas"/>
                        </a:rPr>
                        <a:t>Точность / формат</a:t>
                      </a:r>
                    </a:p>
                  </a:txBody>
                  <a:tcPr>
                    <a:solidFill>
                      <a:srgbClr val="1D1A1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A89C88"/>
                          </a:solidFill>
                          <a:latin typeface="Consolas"/>
                        </a:rPr>
                        <a:t>90 000 операций · 10% витрины</a:t>
                      </a:r>
                    </a:p>
                  </a:txBody>
                  <a:tcPr>
                    <a:solidFill>
                      <a:srgbClr val="1D1A1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A89C88"/>
                          </a:solidFill>
                          <a:latin typeface="Consolas"/>
                        </a:rPr>
                        <a:t>Критичная</a:t>
                      </a:r>
                    </a:p>
                  </a:txBody>
                  <a:tcPr>
                    <a:solidFill>
                      <a:srgbClr val="1D1A14"/>
                    </a:solidFill>
                  </a:tcPr>
                </a:tc>
              </a:tr>
              <a:tr h="489857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A89C88"/>
                          </a:solidFill>
                          <a:latin typeface="Consolas"/>
                        </a:rPr>
                        <a:t>3</a:t>
                      </a:r>
                    </a:p>
                  </a:txBody>
                  <a:tcPr>
                    <a:solidFill>
                      <a:srgbClr val="1D1A1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A89C88"/>
                          </a:solidFill>
                          <a:latin typeface="Consolas"/>
                        </a:rPr>
                        <a:t>Баланс перемещений не сходится: списано больше, чем получено</a:t>
                      </a:r>
                    </a:p>
                  </a:txBody>
                  <a:tcPr>
                    <a:solidFill>
                      <a:srgbClr val="1D1A1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A89C88"/>
                          </a:solidFill>
                          <a:latin typeface="Consolas"/>
                        </a:rPr>
                        <a:t>Бизнес-логика</a:t>
                      </a:r>
                    </a:p>
                  </a:txBody>
                  <a:tcPr>
                    <a:solidFill>
                      <a:srgbClr val="1D1A1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A89C88"/>
                          </a:solidFill>
                          <a:latin typeface="Consolas"/>
                        </a:rPr>
                        <a:t>96 309 пар · 35%</a:t>
                      </a:r>
                    </a:p>
                  </a:txBody>
                  <a:tcPr>
                    <a:solidFill>
                      <a:srgbClr val="1D1A1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A89C88"/>
                          </a:solidFill>
                          <a:latin typeface="Consolas"/>
                        </a:rPr>
                        <a:t>Критичная</a:t>
                      </a:r>
                    </a:p>
                  </a:txBody>
                  <a:tcPr>
                    <a:solidFill>
                      <a:srgbClr val="1D1A14"/>
                    </a:solidFill>
                  </a:tcPr>
                </a:tc>
              </a:tr>
              <a:tr h="489857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A89C88"/>
                          </a:solidFill>
                          <a:latin typeface="Consolas"/>
                        </a:rPr>
                        <a:t>4</a:t>
                      </a:r>
                    </a:p>
                  </a:txBody>
                  <a:tcPr>
                    <a:solidFill>
                      <a:srgbClr val="1D1A1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A89C88"/>
                          </a:solidFill>
                          <a:latin typeface="Consolas"/>
                        </a:rPr>
                        <a:t>Ни одна партия не дошла до витрины целиком</a:t>
                      </a:r>
                    </a:p>
                  </a:txBody>
                  <a:tcPr>
                    <a:solidFill>
                      <a:srgbClr val="1D1A1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A89C88"/>
                          </a:solidFill>
                          <a:latin typeface="Consolas"/>
                        </a:rPr>
                        <a:t>Полнота (следствие 1)</a:t>
                      </a:r>
                    </a:p>
                  </a:txBody>
                  <a:tcPr>
                    <a:solidFill>
                      <a:srgbClr val="1D1A1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A89C88"/>
                          </a:solidFill>
                          <a:latin typeface="Consolas"/>
                        </a:rPr>
                        <a:t>10 000 партий · 100%</a:t>
                      </a:r>
                    </a:p>
                  </a:txBody>
                  <a:tcPr>
                    <a:solidFill>
                      <a:srgbClr val="1D1A1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A89C88"/>
                          </a:solidFill>
                          <a:latin typeface="Consolas"/>
                        </a:rPr>
                        <a:t>Высокая</a:t>
                      </a:r>
                    </a:p>
                  </a:txBody>
                  <a:tcPr>
                    <a:solidFill>
                      <a:srgbClr val="1D1A14"/>
                    </a:solidFill>
                  </a:tcPr>
                </a:tc>
              </a:tr>
              <a:tr h="489857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A89C88"/>
                          </a:solidFill>
                          <a:latin typeface="Consolas"/>
                        </a:rPr>
                        <a:t>5</a:t>
                      </a:r>
                    </a:p>
                  </a:txBody>
                  <a:tcPr>
                    <a:solidFill>
                      <a:srgbClr val="1D1A1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A89C88"/>
                          </a:solidFill>
                          <a:latin typeface="Consolas"/>
                        </a:rPr>
                        <a:t>bottling_date и wbpid не заполнены ни разу (поля есть в схеме)</a:t>
                      </a:r>
                    </a:p>
                  </a:txBody>
                  <a:tcPr>
                    <a:solidFill>
                      <a:srgbClr val="1D1A1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A89C88"/>
                          </a:solidFill>
                          <a:latin typeface="Consolas"/>
                        </a:rPr>
                        <a:t>Схема → контракт</a:t>
                      </a:r>
                    </a:p>
                  </a:txBody>
                  <a:tcPr>
                    <a:solidFill>
                      <a:srgbClr val="1D1A1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A89C88"/>
                          </a:solidFill>
                          <a:latin typeface="Consolas"/>
                        </a:rPr>
                        <a:t>1 000 000 строк · 100%</a:t>
                      </a:r>
                    </a:p>
                  </a:txBody>
                  <a:tcPr>
                    <a:solidFill>
                      <a:srgbClr val="1D1A1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A89C88"/>
                          </a:solidFill>
                          <a:latin typeface="Consolas"/>
                        </a:rPr>
                        <a:t>Средняя</a:t>
                      </a:r>
                    </a:p>
                  </a:txBody>
                  <a:tcPr>
                    <a:solidFill>
                      <a:srgbClr val="1D1A14"/>
                    </a:solidFill>
                  </a:tcPr>
                </a:tc>
              </a:tr>
              <a:tr h="489858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A89C88"/>
                          </a:solidFill>
                          <a:latin typeface="Consolas"/>
                        </a:rPr>
                        <a:t>6</a:t>
                      </a:r>
                    </a:p>
                  </a:txBody>
                  <a:tcPr>
                    <a:solidFill>
                      <a:srgbClr val="1D1A1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A89C88"/>
                          </a:solidFill>
                          <a:latin typeface="Consolas"/>
                        </a:rPr>
                        <a:t>Журнал изменений витрины не ведётся</a:t>
                      </a:r>
                    </a:p>
                  </a:txBody>
                  <a:tcPr>
                    <a:solidFill>
                      <a:srgbClr val="1D1A1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A89C88"/>
                          </a:solidFill>
                          <a:latin typeface="Consolas"/>
                        </a:rPr>
                        <a:t>Прослеживаемость</a:t>
                      </a:r>
                    </a:p>
                  </a:txBody>
                  <a:tcPr>
                    <a:solidFill>
                      <a:srgbClr val="1D1A1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A89C88"/>
                          </a:solidFill>
                          <a:latin typeface="Consolas"/>
                        </a:rPr>
                        <a:t>вся витрина</a:t>
                      </a:r>
                    </a:p>
                  </a:txBody>
                  <a:tcPr>
                    <a:solidFill>
                      <a:srgbClr val="1D1A1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A89C88"/>
                          </a:solidFill>
                          <a:latin typeface="Consolas"/>
                        </a:rPr>
                        <a:t>Высокая</a:t>
                      </a:r>
                    </a:p>
                  </a:txBody>
                  <a:tcPr>
                    <a:solidFill>
                      <a:srgbClr val="1D1A14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5230368"/>
            <a:ext cx="108813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300"/>
              </a:spcAft>
            </a:pPr>
            <a:r>
              <a:rPr sz="1150">
                <a:solidFill>
                  <a:srgbClr val="756A5A"/>
                </a:solidFill>
                <a:latin typeface="Segoe UI"/>
              </a:rPr>
              <a:t>―  Принятый поток целостен: ключ уникален, поля заполнены, код организации валиден на 100% — все дефекты возникли внутри контура.</a:t>
            </a:r>
          </a:p>
          <a:p>
            <a:pPr>
              <a:lnSpc>
                <a:spcPct val="125000"/>
              </a:lnSpc>
              <a:spcAft>
                <a:spcPts val="300"/>
              </a:spcAft>
            </a:pPr>
            <a:r>
              <a:rPr sz="1150">
                <a:solidFill>
                  <a:srgbClr val="756A5A"/>
                </a:solidFill>
                <a:latin typeface="Segoe UI"/>
              </a:rPr>
              <a:t>―  Проблема 2 — следствие попытки починить проблему 1. Проблема 3 — их общее последствие и одновременно инструмент разбора.</a:t>
            </a:r>
          </a:p>
          <a:p>
            <a:pPr>
              <a:lnSpc>
                <a:spcPct val="125000"/>
              </a:lnSpc>
              <a:spcAft>
                <a:spcPts val="300"/>
              </a:spcAft>
            </a:pPr>
            <a:r>
              <a:rPr sz="1150">
                <a:solidFill>
                  <a:srgbClr val="756A5A"/>
                </a:solidFill>
                <a:latin typeface="Segoe UI"/>
              </a:rPr>
              <a:t>―  Проблема 5 закрывается не правилом, а контрактом: поле, которое никто не обязан заполнять, либо проектируется осознанно, либо удаляется (минимизация по 152-ФЗ).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473952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756A5A"/>
                </a:solidFill>
                <a:latin typeface="Consola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4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DBA25A"/>
                </a:solidFill>
                <a:latin typeface="Segoe UI"/>
              </a:rPr>
              <a:t>ШАГ 4 · АРХИТЕКТУРА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DE6D9"/>
                </a:solidFill>
                <a:latin typeface="Segoe UI Semibold"/>
              </a:rPr>
              <a:t>Как устроен поток данных и контур контроля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756A5A"/>
                </a:solidFill>
                <a:latin typeface="Consolas"/>
              </a:rPr>
              <a:t>ПОТОК ДАННЫХ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91640"/>
            <a:ext cx="1737360" cy="868680"/>
          </a:xfrm>
          <a:prstGeom prst="roundRect">
            <a:avLst>
              <a:gd name="adj" fmla="val 6000"/>
            </a:avLst>
          </a:prstGeom>
          <a:solidFill>
            <a:srgbClr val="1D1A14"/>
          </a:solidFill>
          <a:ln w="19050">
            <a:solidFill>
              <a:srgbClr val="332E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1" y="1783080"/>
            <a:ext cx="159105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>
                <a:solidFill>
                  <a:srgbClr val="EDE6D9"/>
                </a:solidFill>
                <a:latin typeface="Consolas"/>
              </a:rPr>
              <a:t>ОРГАНИЗАЦИИ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1" y="2112264"/>
            <a:ext cx="1591056" cy="4114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0">
                <a:solidFill>
                  <a:srgbClr val="A89C88"/>
                </a:solidFill>
                <a:latin typeface="Segoe UI"/>
              </a:rPr>
              <a:t>5 000 участников рынка</a:t>
            </a:r>
          </a:p>
          <a:p>
            <a:pPr algn="ctr">
              <a:lnSpc>
                <a:spcPct val="110000"/>
              </a:lnSpc>
            </a:pPr>
            <a:r>
              <a:rPr sz="900" b="0">
                <a:solidFill>
                  <a:srgbClr val="A89C88"/>
                </a:solidFill>
                <a:latin typeface="Segoe UI"/>
              </a:rPr>
              <a:t>передают операции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606040" y="1691640"/>
            <a:ext cx="1920240" cy="868680"/>
          </a:xfrm>
          <a:prstGeom prst="roundRect">
            <a:avLst>
              <a:gd name="adj" fmla="val 6000"/>
            </a:avLst>
          </a:prstGeom>
          <a:solidFill>
            <a:srgbClr val="1D1A14"/>
          </a:solidFill>
          <a:ln w="19050">
            <a:solidFill>
              <a:srgbClr val="332E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79192" y="1783080"/>
            <a:ext cx="177393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>
                <a:solidFill>
                  <a:srgbClr val="EDE6D9"/>
                </a:solidFill>
                <a:latin typeface="Consolas"/>
              </a:rPr>
              <a:t>ПРИЁМКА list_doc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79192" y="2112264"/>
            <a:ext cx="1773936" cy="4114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0">
                <a:solidFill>
                  <a:srgbClr val="A89C88"/>
                </a:solidFill>
                <a:latin typeface="Segoe UI"/>
              </a:rPr>
              <a:t>1 000 000 операций</a:t>
            </a:r>
          </a:p>
          <a:p>
            <a:pPr algn="ctr">
              <a:lnSpc>
                <a:spcPct val="110000"/>
              </a:lnSpc>
            </a:pPr>
            <a:r>
              <a:rPr sz="900" b="0">
                <a:solidFill>
                  <a:srgbClr val="A89C88"/>
                </a:solidFill>
                <a:latin typeface="Segoe UI"/>
              </a:rPr>
              <a:t>эталон, целостен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54880" y="1691640"/>
            <a:ext cx="1554480" cy="868680"/>
          </a:xfrm>
          <a:prstGeom prst="roundRect">
            <a:avLst>
              <a:gd name="adj" fmla="val 6000"/>
            </a:avLst>
          </a:prstGeom>
          <a:solidFill>
            <a:srgbClr val="1D1A14"/>
          </a:solidFill>
          <a:ln w="19050">
            <a:solidFill>
              <a:srgbClr val="332E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28032" y="1783080"/>
            <a:ext cx="140817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>
                <a:solidFill>
                  <a:srgbClr val="EDE6D9"/>
                </a:solidFill>
                <a:latin typeface="Consolas"/>
              </a:rPr>
              <a:t>ETL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28032" y="2112264"/>
            <a:ext cx="1408176" cy="4114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0">
                <a:solidFill>
                  <a:srgbClr val="A89C88"/>
                </a:solidFill>
                <a:latin typeface="Segoe UI"/>
              </a:rPr>
              <a:t>загрузка: здесь</a:t>
            </a:r>
          </a:p>
          <a:p>
            <a:pPr algn="ctr">
              <a:lnSpc>
                <a:spcPct val="110000"/>
              </a:lnSpc>
            </a:pPr>
            <a:r>
              <a:rPr sz="900" b="0">
                <a:solidFill>
                  <a:srgbClr val="A89C88"/>
                </a:solidFill>
                <a:latin typeface="Segoe UI"/>
              </a:rPr>
              <a:t>теряется 10%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37960" y="1691640"/>
            <a:ext cx="1828800" cy="868680"/>
          </a:xfrm>
          <a:prstGeom prst="roundRect">
            <a:avLst>
              <a:gd name="adj" fmla="val 6000"/>
            </a:avLst>
          </a:prstGeom>
          <a:solidFill>
            <a:srgbClr val="1D1A14"/>
          </a:solidFill>
          <a:ln w="19050">
            <a:solidFill>
              <a:srgbClr val="332E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11112" y="1783080"/>
            <a:ext cx="168249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>
                <a:solidFill>
                  <a:srgbClr val="EDE6D9"/>
                </a:solidFill>
                <a:latin typeface="Consolas"/>
              </a:rPr>
              <a:t>ВИТРИНА doc_oper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11112" y="2112264"/>
            <a:ext cx="1682496" cy="4114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0">
                <a:solidFill>
                  <a:srgbClr val="A89C88"/>
                </a:solidFill>
                <a:latin typeface="Segoe UI"/>
              </a:rPr>
              <a:t>900 000 операций</a:t>
            </a:r>
          </a:p>
          <a:p>
            <a:pPr algn="ctr">
              <a:lnSpc>
                <a:spcPct val="110000"/>
              </a:lnSpc>
            </a:pPr>
            <a:r>
              <a:rPr sz="900" b="0">
                <a:solidFill>
                  <a:srgbClr val="A89C88"/>
                </a:solidFill>
                <a:latin typeface="Segoe UI"/>
              </a:rPr>
              <a:t>объект аудита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41080" y="1691640"/>
            <a:ext cx="1051560" cy="868680"/>
          </a:xfrm>
          <a:prstGeom prst="roundRect">
            <a:avLst>
              <a:gd name="adj" fmla="val 6000"/>
            </a:avLst>
          </a:prstGeom>
          <a:solidFill>
            <a:srgbClr val="1D1A14"/>
          </a:solidFill>
          <a:ln w="19050">
            <a:solidFill>
              <a:srgbClr val="E061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14232" y="1783080"/>
            <a:ext cx="90525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>
                <a:solidFill>
                  <a:srgbClr val="E0616B"/>
                </a:solidFill>
                <a:latin typeface="Consolas"/>
              </a:rPr>
              <a:t>ГЕЙТ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14232" y="2112264"/>
            <a:ext cx="905255" cy="4114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0">
                <a:solidFill>
                  <a:srgbClr val="A89C88"/>
                </a:solidFill>
                <a:latin typeface="Segoe UI"/>
              </a:rPr>
              <a:t>только</a:t>
            </a:r>
          </a:p>
          <a:p>
            <a:pPr algn="ctr">
              <a:lnSpc>
                <a:spcPct val="110000"/>
              </a:lnSpc>
            </a:pPr>
            <a:r>
              <a:rPr sz="900" b="0">
                <a:solidFill>
                  <a:srgbClr val="A89C88"/>
                </a:solidFill>
                <a:latin typeface="Segoe UI"/>
              </a:rPr>
              <a:t>при PASS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966960" y="1691640"/>
            <a:ext cx="1600200" cy="868680"/>
          </a:xfrm>
          <a:prstGeom prst="roundRect">
            <a:avLst>
              <a:gd name="adj" fmla="val 6000"/>
            </a:avLst>
          </a:prstGeom>
          <a:solidFill>
            <a:srgbClr val="1D1A14"/>
          </a:solidFill>
          <a:ln w="19050">
            <a:solidFill>
              <a:srgbClr val="332E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40112" y="1783080"/>
            <a:ext cx="145389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>
                <a:solidFill>
                  <a:srgbClr val="EDE6D9"/>
                </a:solidFill>
                <a:latin typeface="Consolas"/>
              </a:rPr>
              <a:t>КОНТРОЛЬ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40112" y="2112264"/>
            <a:ext cx="1453896" cy="4114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0">
                <a:solidFill>
                  <a:srgbClr val="A89C88"/>
                </a:solidFill>
                <a:latin typeface="Segoe UI"/>
              </a:rPr>
              <a:t>сверка деклараций,</a:t>
            </a:r>
          </a:p>
          <a:p>
            <a:pPr algn="ctr">
              <a:lnSpc>
                <a:spcPct val="110000"/>
              </a:lnSpc>
            </a:pPr>
            <a:r>
              <a:rPr sz="900" b="0">
                <a:solidFill>
                  <a:srgbClr val="A89C88"/>
                </a:solidFill>
                <a:latin typeface="Segoe UI"/>
              </a:rPr>
              <a:t>статистика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377440" y="2125980"/>
            <a:ext cx="228600" cy="0"/>
          </a:xfrm>
          <a:prstGeom prst="line">
            <a:avLst/>
          </a:prstGeom>
          <a:ln w="19050">
            <a:solidFill>
              <a:srgbClr val="756A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4526280" y="2125980"/>
            <a:ext cx="228600" cy="0"/>
          </a:xfrm>
          <a:prstGeom prst="line">
            <a:avLst/>
          </a:prstGeom>
          <a:ln w="19050">
            <a:solidFill>
              <a:srgbClr val="756A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6309360" y="2125980"/>
            <a:ext cx="228600" cy="0"/>
          </a:xfrm>
          <a:prstGeom prst="line">
            <a:avLst/>
          </a:prstGeom>
          <a:ln w="19050">
            <a:solidFill>
              <a:srgbClr val="756A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8366760" y="2125980"/>
            <a:ext cx="274320" cy="0"/>
          </a:xfrm>
          <a:prstGeom prst="line">
            <a:avLst/>
          </a:prstGeom>
          <a:ln w="19050">
            <a:solidFill>
              <a:srgbClr val="756A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9692640" y="2125980"/>
            <a:ext cx="274320" cy="0"/>
          </a:xfrm>
          <a:prstGeom prst="line">
            <a:avLst/>
          </a:prstGeom>
          <a:ln w="19050">
            <a:solidFill>
              <a:srgbClr val="756A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40080" y="315468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DBA25A"/>
                </a:solidFill>
                <a:latin typeface="Consolas"/>
              </a:rPr>
              <a:t>КОНТУР КОНТРОЛЯ КАЧЕСТВА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3429000"/>
            <a:ext cx="1737360" cy="868680"/>
          </a:xfrm>
          <a:prstGeom prst="roundRect">
            <a:avLst>
              <a:gd name="adj" fmla="val 6000"/>
            </a:avLst>
          </a:prstGeom>
          <a:solidFill>
            <a:srgbClr val="1D1A14"/>
          </a:solidFill>
          <a:ln w="19050">
            <a:solidFill>
              <a:srgbClr val="DBA2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13231" y="3520440"/>
            <a:ext cx="159105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>
                <a:solidFill>
                  <a:srgbClr val="EDE6D9"/>
                </a:solidFill>
                <a:latin typeface="Consolas"/>
              </a:rPr>
              <a:t>AIRFLOW DAG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3231" y="3849624"/>
            <a:ext cx="1591056" cy="4114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0">
                <a:solidFill>
                  <a:srgbClr val="A89C88"/>
                </a:solidFill>
                <a:latin typeface="Segoe UI"/>
              </a:rPr>
              <a:t>06:00 UTC ежедневно</a:t>
            </a:r>
          </a:p>
          <a:p>
            <a:pPr algn="ctr">
              <a:lnSpc>
                <a:spcPct val="110000"/>
              </a:lnSpc>
            </a:pPr>
            <a:r>
              <a:rPr sz="900" b="0">
                <a:solidFill>
                  <a:srgbClr val="A89C88"/>
                </a:solidFill>
                <a:latin typeface="Segoe UI"/>
              </a:rPr>
              <a:t>креды из Connection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606040" y="3429000"/>
            <a:ext cx="1920240" cy="868680"/>
          </a:xfrm>
          <a:prstGeom prst="roundRect">
            <a:avLst>
              <a:gd name="adj" fmla="val 6000"/>
            </a:avLst>
          </a:prstGeom>
          <a:solidFill>
            <a:srgbClr val="1D1A14"/>
          </a:solidFill>
          <a:ln w="19050">
            <a:solidFill>
              <a:srgbClr val="DBA2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679192" y="3520440"/>
            <a:ext cx="177393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>
                <a:solidFill>
                  <a:srgbClr val="EDE6D9"/>
                </a:solidFill>
                <a:latin typeface="Consolas"/>
              </a:rPr>
              <a:t>ПАЙПЛАЙН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679192" y="3849624"/>
            <a:ext cx="1773936" cy="4114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0">
                <a:solidFill>
                  <a:srgbClr val="A89C88"/>
                </a:solidFill>
                <a:latin typeface="Segoe UI"/>
              </a:rPr>
              <a:t>dq_pipeline.py</a:t>
            </a:r>
          </a:p>
          <a:p>
            <a:pPr algn="ctr">
              <a:lnSpc>
                <a:spcPct val="110000"/>
              </a:lnSpc>
            </a:pPr>
            <a:r>
              <a:rPr sz="900" b="0">
                <a:solidFill>
                  <a:srgbClr val="A89C88"/>
                </a:solidFill>
                <a:latin typeface="Segoe UI"/>
              </a:rPr>
              <a:t>14 правил, один SQL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754880" y="3429000"/>
            <a:ext cx="1828800" cy="868680"/>
          </a:xfrm>
          <a:prstGeom prst="roundRect">
            <a:avLst>
              <a:gd name="adj" fmla="val 6000"/>
            </a:avLst>
          </a:prstGeom>
          <a:solidFill>
            <a:srgbClr val="1D1A14"/>
          </a:solidFill>
          <a:ln w="19050">
            <a:solidFill>
              <a:srgbClr val="DBA2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828032" y="3520440"/>
            <a:ext cx="168249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>
                <a:solidFill>
                  <a:srgbClr val="EDE6D9"/>
                </a:solidFill>
                <a:latin typeface="Consolas"/>
              </a:rPr>
              <a:t>ИСТОРИЯ ПРОГОНОВ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828032" y="3849624"/>
            <a:ext cx="1682496" cy="4114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0">
                <a:solidFill>
                  <a:srgbClr val="A89C88"/>
                </a:solidFill>
                <a:latin typeface="Segoe UI"/>
              </a:rPr>
              <a:t>dq_run_history</a:t>
            </a:r>
          </a:p>
          <a:p>
            <a:pPr algn="ctr">
              <a:lnSpc>
                <a:spcPct val="110000"/>
              </a:lnSpc>
            </a:pPr>
            <a:r>
              <a:rPr sz="900" b="0">
                <a:solidFill>
                  <a:srgbClr val="A89C88"/>
                </a:solidFill>
                <a:latin typeface="Segoe UI"/>
              </a:rPr>
              <a:t>dq_check_results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812280" y="3429000"/>
            <a:ext cx="1828800" cy="868680"/>
          </a:xfrm>
          <a:prstGeom prst="roundRect">
            <a:avLst>
              <a:gd name="adj" fmla="val 6000"/>
            </a:avLst>
          </a:prstGeom>
          <a:solidFill>
            <a:srgbClr val="1D1A14"/>
          </a:solidFill>
          <a:ln w="19050">
            <a:solidFill>
              <a:srgbClr val="DBA2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885432" y="3520440"/>
            <a:ext cx="168249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>
                <a:solidFill>
                  <a:srgbClr val="EDE6D9"/>
                </a:solidFill>
                <a:latin typeface="Consolas"/>
              </a:rPr>
              <a:t>GRAFANA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85432" y="3849624"/>
            <a:ext cx="1682496" cy="4114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0">
                <a:solidFill>
                  <a:srgbClr val="A89C88"/>
                </a:solidFill>
                <a:latin typeface="Segoe UI"/>
              </a:rPr>
              <a:t>технический дашборд</a:t>
            </a:r>
          </a:p>
          <a:p>
            <a:pPr algn="ctr">
              <a:lnSpc>
                <a:spcPct val="110000"/>
              </a:lnSpc>
            </a:pPr>
            <a:r>
              <a:rPr sz="900" b="0">
                <a:solidFill>
                  <a:srgbClr val="A89C88"/>
                </a:solidFill>
                <a:latin typeface="Segoe UI"/>
              </a:rPr>
              <a:t>бизнес-дашборд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2377440" y="3863339"/>
            <a:ext cx="228600" cy="0"/>
          </a:xfrm>
          <a:prstGeom prst="line">
            <a:avLst/>
          </a:prstGeom>
          <a:ln w="19050">
            <a:solidFill>
              <a:srgbClr val="DBA2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4526280" y="3863339"/>
            <a:ext cx="228600" cy="0"/>
          </a:xfrm>
          <a:prstGeom prst="line">
            <a:avLst/>
          </a:prstGeom>
          <a:ln w="19050">
            <a:solidFill>
              <a:srgbClr val="DBA2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6583680" y="3863339"/>
            <a:ext cx="228600" cy="0"/>
          </a:xfrm>
          <a:prstGeom prst="line">
            <a:avLst/>
          </a:prstGeom>
          <a:ln w="19050">
            <a:solidFill>
              <a:srgbClr val="DBA2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3566160" y="2560320"/>
            <a:ext cx="0" cy="868680"/>
          </a:xfrm>
          <a:prstGeom prst="line">
            <a:avLst/>
          </a:prstGeom>
          <a:ln w="19050">
            <a:solidFill>
              <a:srgbClr val="DBA2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H="1">
            <a:off x="4206240" y="2560320"/>
            <a:ext cx="3246120" cy="868680"/>
          </a:xfrm>
          <a:prstGeom prst="line">
            <a:avLst/>
          </a:prstGeom>
          <a:ln w="19050">
            <a:solidFill>
              <a:srgbClr val="DBA2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3703320" y="2743200"/>
            <a:ext cx="3291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DBA25A"/>
                </a:solidFill>
                <a:latin typeface="Consolas"/>
              </a:rPr>
              <a:t>сверка витрины с эталоном</a:t>
            </a:r>
          </a:p>
        </p:txBody>
      </p:sp>
      <p:cxnSp>
        <p:nvCxnSpPr>
          <p:cNvPr id="47" name="Connector 46"/>
          <p:cNvCxnSpPr/>
          <p:nvPr/>
        </p:nvCxnSpPr>
        <p:spPr>
          <a:xfrm flipV="1">
            <a:off x="4114800" y="2560320"/>
            <a:ext cx="5029200" cy="868680"/>
          </a:xfrm>
          <a:prstGeom prst="line">
            <a:avLst/>
          </a:prstGeom>
          <a:ln w="22225">
            <a:solidFill>
              <a:srgbClr val="E061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6720840" y="2788920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E0616B"/>
                </a:solidFill>
                <a:latin typeface="Consolas"/>
              </a:rPr>
              <a:t>PASS / FAIL → гейт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2606040" y="4846320"/>
            <a:ext cx="1920240" cy="777240"/>
          </a:xfrm>
          <a:prstGeom prst="roundRect">
            <a:avLst>
              <a:gd name="adj" fmla="val 6000"/>
            </a:avLst>
          </a:prstGeom>
          <a:solidFill>
            <a:srgbClr val="1D1A14"/>
          </a:solidFill>
          <a:ln w="19050">
            <a:solidFill>
              <a:srgbClr val="7FB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679192" y="4937759"/>
            <a:ext cx="177393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>
                <a:solidFill>
                  <a:srgbClr val="EDE6D9"/>
                </a:solidFill>
                <a:latin typeface="Consolas"/>
              </a:rPr>
              <a:t>SODA CORE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679192" y="5266944"/>
            <a:ext cx="177393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0">
                <a:solidFill>
                  <a:srgbClr val="A89C88"/>
                </a:solidFill>
                <a:latin typeface="Segoe UI"/>
              </a:rPr>
              <a:t>checks.yml — те же правила,</a:t>
            </a:r>
          </a:p>
          <a:p>
            <a:pPr algn="ctr">
              <a:lnSpc>
                <a:spcPct val="110000"/>
              </a:lnSpc>
            </a:pPr>
            <a:r>
              <a:rPr sz="900" b="0">
                <a:solidFill>
                  <a:srgbClr val="A89C88"/>
                </a:solidFill>
                <a:latin typeface="Segoe UI"/>
              </a:rPr>
              <a:t>вердикт совпал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3566160" y="4297680"/>
            <a:ext cx="0" cy="548640"/>
          </a:xfrm>
          <a:prstGeom prst="line">
            <a:avLst/>
          </a:prstGeom>
          <a:ln w="19050">
            <a:solidFill>
              <a:srgbClr val="7FB0E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Rounded Rectangle 52"/>
          <p:cNvSpPr/>
          <p:nvPr/>
        </p:nvSpPr>
        <p:spPr>
          <a:xfrm>
            <a:off x="4754880" y="4846320"/>
            <a:ext cx="1828800" cy="777240"/>
          </a:xfrm>
          <a:prstGeom prst="roundRect">
            <a:avLst>
              <a:gd name="adj" fmla="val 6000"/>
            </a:avLst>
          </a:prstGeom>
          <a:solidFill>
            <a:srgbClr val="1D1A14"/>
          </a:solidFill>
          <a:ln w="19050">
            <a:solidFill>
              <a:srgbClr val="E061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828032" y="4937759"/>
            <a:ext cx="168249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>
                <a:solidFill>
                  <a:srgbClr val="E0616B"/>
                </a:solidFill>
                <a:latin typeface="Consolas"/>
              </a:rPr>
              <a:t>АЛЕРТ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828032" y="5266944"/>
            <a:ext cx="168249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0">
                <a:solidFill>
                  <a:srgbClr val="A89C88"/>
                </a:solidFill>
                <a:latin typeface="Segoe UI"/>
              </a:rPr>
              <a:t>notify_on_failure в DAG</a:t>
            </a:r>
          </a:p>
          <a:p>
            <a:pPr algn="ctr">
              <a:lnSpc>
                <a:spcPct val="110000"/>
              </a:lnSpc>
            </a:pPr>
            <a:r>
              <a:rPr sz="900" b="0">
                <a:solidFill>
                  <a:srgbClr val="A89C88"/>
                </a:solidFill>
                <a:latin typeface="Segoe UI"/>
              </a:rPr>
              <a:t>alerts.yml в Grafana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4526280" y="4297680"/>
            <a:ext cx="228600" cy="731520"/>
          </a:xfrm>
          <a:prstGeom prst="line">
            <a:avLst/>
          </a:prstGeom>
          <a:ln w="19050">
            <a:solidFill>
              <a:srgbClr val="E061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H="1">
            <a:off x="6583680" y="4297680"/>
            <a:ext cx="1142999" cy="731520"/>
          </a:xfrm>
          <a:prstGeom prst="line">
            <a:avLst/>
          </a:prstGeom>
          <a:ln w="19050">
            <a:solidFill>
              <a:srgbClr val="E061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11475720" y="6473952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756A5A"/>
                </a:solidFill>
                <a:latin typeface="Consola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4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DBA25A"/>
                </a:solidFill>
                <a:latin typeface="Segoe UI"/>
              </a:rPr>
              <a:t>ШАГ 3 · РЕЕСТР ПРАВИЛ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DE6D9"/>
                </a:solidFill>
                <a:latin typeface="Segoe UI Semibold"/>
              </a:rPr>
              <a:t>14 правил в трёх категориях — SQL и Soda Core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91640"/>
            <a:ext cx="3520440" cy="4160520"/>
          </a:xfrm>
          <a:prstGeom prst="roundRect">
            <a:avLst>
              <a:gd name="adj" fmla="val 6000"/>
            </a:avLst>
          </a:prstGeom>
          <a:solidFill>
            <a:srgbClr val="1D1A14"/>
          </a:solidFill>
          <a:ln w="12700">
            <a:solidFill>
              <a:srgbClr val="332E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59" y="1828800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DBA25A"/>
                </a:solidFill>
                <a:latin typeface="Consolas"/>
              </a:rPr>
              <a:t>ПОЛНОТА И ЦЕЛОСТНОСТЬ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59" y="2240280"/>
            <a:ext cx="2240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EDE6D9"/>
                </a:solidFill>
                <a:latin typeface="Segoe UI"/>
              </a:rPr>
              <a:t>DQ-01  Заполненность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7520" y="2240280"/>
            <a:ext cx="960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>
                <a:solidFill>
                  <a:srgbClr val="4CAF6D"/>
                </a:solidFill>
                <a:latin typeface="Consolas"/>
              </a:rPr>
              <a:t>PASS 100%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496312"/>
            <a:ext cx="3154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A89C88"/>
                </a:solidFill>
                <a:latin typeface="Segoe UI"/>
              </a:rPr>
              <a:t>Все 8 обязательных полей операции не пусты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3136392"/>
            <a:ext cx="2240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EDE6D9"/>
                </a:solidFill>
                <a:latin typeface="Segoe UI"/>
              </a:rPr>
              <a:t>DQ-02  Полнота загрузки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20" y="3136392"/>
            <a:ext cx="960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>
                <a:solidFill>
                  <a:srgbClr val="E0616B"/>
                </a:solidFill>
                <a:latin typeface="Consolas"/>
              </a:rPr>
              <a:t>FAIL 90%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3392424"/>
            <a:ext cx="3154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A89C88"/>
                </a:solidFill>
                <a:latin typeface="Segoe UI"/>
              </a:rPr>
              <a:t>Сколько принято — столько и доехало до витрины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4032504"/>
            <a:ext cx="2240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EDE6D9"/>
                </a:solidFill>
                <a:latin typeface="Segoe UI"/>
              </a:rPr>
              <a:t>DQ-05  Уникальность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4032504"/>
            <a:ext cx="960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>
                <a:solidFill>
                  <a:srgbClr val="4CAF6D"/>
                </a:solidFill>
                <a:latin typeface="Consolas"/>
              </a:rPr>
              <a:t>PASS 100%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59" y="4288536"/>
            <a:ext cx="3154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A89C88"/>
                </a:solidFill>
                <a:latin typeface="Segoe UI"/>
              </a:rPr>
              <a:t>Операция не задвоена повторной загрузкой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59" y="4928616"/>
            <a:ext cx="2240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EDE6D9"/>
                </a:solidFill>
                <a:latin typeface="Segoe UI"/>
              </a:rPr>
              <a:t>DQ-11  Происхождение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7520" y="4928616"/>
            <a:ext cx="960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>
                <a:solidFill>
                  <a:srgbClr val="4CAF6D"/>
                </a:solidFill>
                <a:latin typeface="Consolas"/>
              </a:rPr>
              <a:t>PASS 100%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59" y="5184648"/>
            <a:ext cx="3154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A89C88"/>
                </a:solidFill>
                <a:latin typeface="Segoe UI"/>
              </a:rPr>
              <a:t>В витрине нет записей, которых не было в приёмке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43400" y="1691640"/>
            <a:ext cx="3520440" cy="4160520"/>
          </a:xfrm>
          <a:prstGeom prst="roundRect">
            <a:avLst>
              <a:gd name="adj" fmla="val 6000"/>
            </a:avLst>
          </a:prstGeom>
          <a:solidFill>
            <a:srgbClr val="1D1A14"/>
          </a:solidFill>
          <a:ln w="12700">
            <a:solidFill>
              <a:srgbClr val="332E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26280" y="1828800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DBA25A"/>
                </a:solidFill>
                <a:latin typeface="Consolas"/>
              </a:rPr>
              <a:t>ТОЧНОСТЬ И ФОРМАТ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6280" y="2240280"/>
            <a:ext cx="2240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EDE6D9"/>
                </a:solidFill>
                <a:latin typeface="Segoe UI"/>
              </a:rPr>
              <a:t>DQ-03  Формат кода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20840" y="2240280"/>
            <a:ext cx="960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>
                <a:solidFill>
                  <a:srgbClr val="E0616B"/>
                </a:solidFill>
                <a:latin typeface="Consolas"/>
              </a:rPr>
              <a:t>FAIL 90%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6280" y="2496312"/>
            <a:ext cx="3154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A89C88"/>
                </a:solidFill>
                <a:latin typeface="Segoe UI"/>
              </a:rPr>
              <a:t>8 цифр с ведущим нулём — иначе не найти в реестре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6280" y="3136392"/>
            <a:ext cx="2240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EDE6D9"/>
                </a:solidFill>
                <a:latin typeface="Segoe UI"/>
              </a:rPr>
              <a:t>DQ-04  Точность vs приёмка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20840" y="3136392"/>
            <a:ext cx="960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>
                <a:solidFill>
                  <a:srgbClr val="E0616B"/>
                </a:solidFill>
                <a:latin typeface="Consolas"/>
              </a:rPr>
              <a:t>FAIL 90%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26280" y="3392424"/>
            <a:ext cx="3154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A89C88"/>
                </a:solidFill>
                <a:latin typeface="Segoe UI"/>
              </a:rPr>
              <a:t>Код в витрине совпадает с тем, что прислала организация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26280" y="4032504"/>
            <a:ext cx="2240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EDE6D9"/>
                </a:solidFill>
                <a:latin typeface="Segoe UI"/>
              </a:rPr>
              <a:t>DQ-09  Код продукции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20840" y="4032504"/>
            <a:ext cx="960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>
                <a:solidFill>
                  <a:srgbClr val="4CAF6D"/>
                </a:solidFill>
                <a:latin typeface="Consolas"/>
              </a:rPr>
              <a:t>PASS 100%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26280" y="4288536"/>
            <a:ext cx="3154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A89C88"/>
                </a:solidFill>
                <a:latin typeface="Segoe UI"/>
              </a:rPr>
              <a:t>Положительный, правдоподобной длины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26280" y="4928616"/>
            <a:ext cx="2240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EDE6D9"/>
                </a:solidFill>
                <a:latin typeface="Segoe UI"/>
              </a:rPr>
              <a:t>DQ-10  Формат справок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20840" y="4928616"/>
            <a:ext cx="960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>
                <a:solidFill>
                  <a:srgbClr val="4CAF6D"/>
                </a:solidFill>
                <a:latin typeface="Consolas"/>
              </a:rPr>
              <a:t>PASS 100%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26280" y="5184648"/>
            <a:ext cx="3154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A89C88"/>
                </a:solidFill>
                <a:latin typeface="Segoe UI"/>
              </a:rPr>
              <a:t>Номера деклараций соответствуют шаблону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46719" y="1691640"/>
            <a:ext cx="3520440" cy="4160520"/>
          </a:xfrm>
          <a:prstGeom prst="roundRect">
            <a:avLst>
              <a:gd name="adj" fmla="val 6000"/>
            </a:avLst>
          </a:prstGeom>
          <a:solidFill>
            <a:srgbClr val="1D1A14"/>
          </a:solidFill>
          <a:ln w="12700">
            <a:solidFill>
              <a:srgbClr val="332E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29599" y="1828800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DBA25A"/>
                </a:solidFill>
                <a:latin typeface="Consolas"/>
              </a:rPr>
              <a:t>БИЗНЕС-ЛОГИКА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599" y="2240280"/>
            <a:ext cx="2240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EDE6D9"/>
                </a:solidFill>
                <a:latin typeface="Segoe UI"/>
              </a:rPr>
              <a:t>DQ-07  Знак количества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424159" y="2240280"/>
            <a:ext cx="960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>
                <a:solidFill>
                  <a:srgbClr val="4CAF6D"/>
                </a:solidFill>
                <a:latin typeface="Consolas"/>
              </a:rPr>
              <a:t>PASS 100%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599" y="2496312"/>
            <a:ext cx="3154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A89C88"/>
                </a:solidFill>
                <a:latin typeface="Segoe UI"/>
              </a:rPr>
              <a:t>Приход &gt; 0, списание &lt; 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599" y="3136392"/>
            <a:ext cx="2240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EDE6D9"/>
                </a:solidFill>
                <a:latin typeface="Segoe UI"/>
              </a:rPr>
              <a:t>DQ-12  Иерархия справок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424159" y="3136392"/>
            <a:ext cx="960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>
                <a:solidFill>
                  <a:srgbClr val="4CAF6D"/>
                </a:solidFill>
                <a:latin typeface="Consolas"/>
              </a:rPr>
              <a:t>PASS 100%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599" y="3392424"/>
            <a:ext cx="3154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A89C88"/>
                </a:solidFill>
                <a:latin typeface="Segoe UI"/>
              </a:rPr>
              <a:t>Перемещение принадлежит ровно одной партии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29599" y="4032504"/>
            <a:ext cx="2240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EDE6D9"/>
                </a:solidFill>
                <a:latin typeface="Segoe UI"/>
              </a:rPr>
              <a:t>DQ-13  Однородность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424159" y="4032504"/>
            <a:ext cx="960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>
                <a:solidFill>
                  <a:srgbClr val="4CAF6D"/>
                </a:solidFill>
                <a:latin typeface="Consolas"/>
              </a:rPr>
              <a:t>PASS 100%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29599" y="4288536"/>
            <a:ext cx="3154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A89C88"/>
                </a:solidFill>
                <a:latin typeface="Segoe UI"/>
              </a:rPr>
              <a:t>Внутри справки А один код продукции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29599" y="4928616"/>
            <a:ext cx="2240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EDE6D9"/>
                </a:solidFill>
                <a:latin typeface="Segoe UI"/>
              </a:rPr>
              <a:t>DQ-14  Баланс поставки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424159" y="4928616"/>
            <a:ext cx="960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>
                <a:solidFill>
                  <a:srgbClr val="E0616B"/>
                </a:solidFill>
                <a:latin typeface="Consolas"/>
              </a:rPr>
              <a:t>FAIL 65%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29599" y="5184648"/>
            <a:ext cx="3154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A89C88"/>
                </a:solidFill>
                <a:latin typeface="Segoe UI"/>
              </a:rPr>
              <a:t>Списать по справке Б больше, чем получено, нельзя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0080" y="594360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0"/>
              </a:spcAft>
            </a:pPr>
            <a:r>
              <a:rPr sz="1100">
                <a:solidFill>
                  <a:srgbClr val="756A5A"/>
                </a:solidFill>
                <a:latin typeface="Segoe UI"/>
              </a:rPr>
              <a:t>―  Ещё два технических правила — DQ-06 тип документа и DQ-08 свежесть — зелёные. Пять критичных (DQ-02/03/04/11/14) блокируют публикацию. Каждое правило — SQL (02_dq_rules.sql) и SodaCL (checks.yml); оба движка на реальной БД дали одинаковый вердикт.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475720" y="6473952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756A5A"/>
                </a:solidFill>
                <a:latin typeface="Consola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4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DBA25A"/>
                </a:solidFill>
                <a:latin typeface="Segoe UI"/>
              </a:rPr>
              <a:t>ШАГ 4 · OBSERVABILITY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DE6D9"/>
                </a:solidFill>
                <a:latin typeface="Segoe UI Semibold"/>
              </a:rPr>
              <a:t>Два дашборда: инженерам и бизнесу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45920"/>
            <a:ext cx="5623560" cy="4709160"/>
          </a:xfrm>
          <a:prstGeom prst="roundRect">
            <a:avLst>
              <a:gd name="adj" fmla="val 6000"/>
            </a:avLst>
          </a:prstGeom>
          <a:solidFill>
            <a:srgbClr val="1D1A14"/>
          </a:solidFill>
          <a:ln w="12700">
            <a:solidFill>
              <a:srgbClr val="332E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783080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DBA25A"/>
                </a:solidFill>
                <a:latin typeface="Consolas"/>
              </a:rPr>
              <a:t>ТЕХНИЧЕСКИЙ · GRAFANA, РАЗВЁРНУТ</a:t>
            </a:r>
          </a:p>
        </p:txBody>
      </p:sp>
      <p:pic>
        <p:nvPicPr>
          <p:cNvPr id="6" name="Picture 5" descr="grafana_dq_monitor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148840"/>
            <a:ext cx="5166360" cy="26121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68680" y="5029200"/>
            <a:ext cx="5212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300"/>
              </a:spcAft>
            </a:pPr>
            <a:r>
              <a:rPr sz="1100">
                <a:solidFill>
                  <a:srgbClr val="A89C88"/>
                </a:solidFill>
                <a:latin typeface="Segoe UI"/>
              </a:rPr>
              <a:t>―  Pass rate по каждому из 14 правил, тренд критичных по дням</a:t>
            </a:r>
          </a:p>
          <a:p>
            <a:pPr>
              <a:lnSpc>
                <a:spcPct val="125000"/>
              </a:lnSpc>
              <a:spcAft>
                <a:spcPts val="300"/>
              </a:spcAft>
            </a:pPr>
            <a:r>
              <a:rPr sz="1100">
                <a:solidFill>
                  <a:srgbClr val="A89C88"/>
                </a:solidFill>
                <a:latin typeface="Segoe UI"/>
              </a:rPr>
              <a:t>―  Полная история запусков пайплайна — 40+ прогонов из dq_run_history</a:t>
            </a:r>
          </a:p>
          <a:p>
            <a:pPr>
              <a:lnSpc>
                <a:spcPct val="125000"/>
              </a:lnSpc>
              <a:spcAft>
                <a:spcPts val="300"/>
              </a:spcAft>
            </a:pPr>
            <a:r>
              <a:rPr sz="1100">
                <a:solidFill>
                  <a:srgbClr val="A89C88"/>
                </a:solidFill>
                <a:latin typeface="Segoe UI"/>
              </a:rPr>
              <a:t>―  Детали последнего FAIL-прогона: какие пары, сколько строк, порог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37960" y="1645920"/>
            <a:ext cx="4983480" cy="4709160"/>
          </a:xfrm>
          <a:prstGeom prst="roundRect">
            <a:avLst>
              <a:gd name="adj" fmla="val 6000"/>
            </a:avLst>
          </a:prstGeom>
          <a:solidFill>
            <a:srgbClr val="1D1A14"/>
          </a:solidFill>
          <a:ln w="12700">
            <a:solidFill>
              <a:srgbClr val="332E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66560" y="1783080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DBA25A"/>
                </a:solidFill>
                <a:latin typeface="Consolas"/>
              </a:rPr>
              <a:t>БИЗНЕС · МОДЕЛЬ ДЛЯ GRAFANA</a:t>
            </a:r>
          </a:p>
        </p:txBody>
      </p:sp>
      <p:pic>
        <p:nvPicPr>
          <p:cNvPr id="10" name="Picture 9" descr="dashboard_busine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2148840"/>
            <a:ext cx="3200400" cy="27432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766560" y="5029200"/>
            <a:ext cx="4572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300"/>
              </a:spcAft>
            </a:pPr>
            <a:r>
              <a:rPr sz="1100">
                <a:solidFill>
                  <a:srgbClr val="A89C88"/>
                </a:solidFill>
                <a:latin typeface="Segoe UI"/>
              </a:rPr>
              <a:t>―  Один вопрос: «можно ли доверять сегодняшним данным?»</a:t>
            </a:r>
          </a:p>
          <a:p>
            <a:pPr>
              <a:lnSpc>
                <a:spcPct val="125000"/>
              </a:lnSpc>
              <a:spcAft>
                <a:spcPts val="300"/>
              </a:spcAft>
            </a:pPr>
            <a:r>
              <a:rPr sz="1100">
                <a:solidFill>
                  <a:srgbClr val="A89C88"/>
                </a:solidFill>
                <a:latin typeface="Segoe UI"/>
              </a:rPr>
              <a:t>―  Три числа: не доехало, искажён код, не сходится баланс</a:t>
            </a:r>
          </a:p>
          <a:p>
            <a:pPr>
              <a:lnSpc>
                <a:spcPct val="125000"/>
              </a:lnSpc>
              <a:spcAft>
                <a:spcPts val="300"/>
              </a:spcAft>
            </a:pPr>
            <a:r>
              <a:rPr sz="1100">
                <a:solidFill>
                  <a:srgbClr val="A89C88"/>
                </a:solidFill>
                <a:latin typeface="Segoe UI"/>
              </a:rPr>
              <a:t>―  Явно сказано: организации отчитались корректно, проблема у нас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75720" y="6473952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756A5A"/>
                </a:solidFill>
                <a:latin typeface="Consola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4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DBA25A"/>
                </a:solidFill>
                <a:latin typeface="Segoe UI"/>
              </a:rPr>
              <a:t>ШАГ 5 · КОНТРАКТЫ И РЕГУЛЯТОРИКА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DE6D9"/>
                </a:solidFill>
                <a:latin typeface="Segoe UI Semibold"/>
              </a:rPr>
              <a:t>Data Contract + риски по 152-ФЗ и 171-ФЗ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83080"/>
            <a:ext cx="5760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500">
                <a:solidFill>
                  <a:srgbClr val="A89C88"/>
                </a:solidFill>
                <a:latin typeface="Segoe UI"/>
              </a:rPr>
              <a:t>―  Data Contract — обязательства команды загрузки перед контуром контроля: схема, SLA свежести, quality-пороги, строковый тип кода организации.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500">
                <a:solidFill>
                  <a:srgbClr val="A89C88"/>
                </a:solidFill>
                <a:latin typeface="Segoe UI"/>
              </a:rPr>
              <a:t>―  Искажённый код организации-ИП — это неточные персональные данные: ч. 6 ст. 5 152-ФЗ требует точности, ст. 21 — уточнить с момента выявления.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500">
                <a:solidFill>
                  <a:srgbClr val="A89C88"/>
                </a:solidFill>
                <a:latin typeface="Segoe UI"/>
              </a:rPr>
              <a:t>―  Потерянные операции → ошибочные основания для контрольных мероприятий (КоАП ст. 14.19) и искажение отраслевой статистики.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75120" y="1783080"/>
            <a:ext cx="4846320" cy="4389120"/>
          </a:xfrm>
          <a:prstGeom prst="roundRect">
            <a:avLst>
              <a:gd name="adj" fmla="val 6000"/>
            </a:avLst>
          </a:prstGeom>
          <a:solidFill>
            <a:srgbClr val="1D1A14"/>
          </a:solidFill>
          <a:ln w="12700">
            <a:solidFill>
              <a:srgbClr val="332E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903720" y="1965960"/>
            <a:ext cx="4389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756A5A"/>
                </a:solidFill>
                <a:latin typeface="Consolas"/>
              </a:rPr>
              <a:t>СНИЖАЮТ РИСК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03720" y="2377440"/>
            <a:ext cx="42976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350">
                <a:solidFill>
                  <a:srgbClr val="A89C88"/>
                </a:solidFill>
                <a:latin typeface="Segoe UI"/>
              </a:rPr>
              <a:t>―  DQ-02 — ни одна принятая операция не теряется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350">
                <a:solidFill>
                  <a:srgbClr val="A89C88"/>
                </a:solidFill>
                <a:latin typeface="Segoe UI"/>
              </a:rPr>
              <a:t>―  DQ-03/DQ-04 — код организации совпадает с принятым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350">
                <a:solidFill>
                  <a:srgbClr val="A89C88"/>
                </a:solidFill>
                <a:latin typeface="Segoe UI"/>
              </a:rPr>
              <a:t>―  DQ-11 — в витрину не попадают записи мимо приёмки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350">
                <a:solidFill>
                  <a:srgbClr val="A89C88"/>
                </a:solidFill>
                <a:latin typeface="Segoe UI"/>
              </a:rPr>
              <a:t>―  DQ-14 — баланс товародвижения сходится по каждой поставке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350">
                <a:solidFill>
                  <a:srgbClr val="A89C88"/>
                </a:solidFill>
                <a:latin typeface="Segoe UI"/>
              </a:rPr>
              <a:t>―  Журнал изменений витрины: кто и когда правил данные — сейчас не ведётся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73952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756A5A"/>
                </a:solidFill>
                <a:latin typeface="Consola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4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DBA25A"/>
                </a:solidFill>
                <a:latin typeface="Segoe UI"/>
              </a:rPr>
              <a:t>ШАГ 6 · ИНЦИДЕНТ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DE6D9"/>
                </a:solidFill>
                <a:latin typeface="Segoe UI Semibold"/>
              </a:rPr>
              <a:t>Расследование: чинили одно — сломали другое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28800"/>
            <a:ext cx="3383280" cy="1737360"/>
          </a:xfrm>
          <a:prstGeom prst="roundRect">
            <a:avLst>
              <a:gd name="adj" fmla="val 6000"/>
            </a:avLst>
          </a:prstGeom>
          <a:solidFill>
            <a:srgbClr val="1D1A14"/>
          </a:solidFill>
          <a:ln w="12700">
            <a:solidFill>
              <a:srgbClr val="332E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7" y="1993392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756A5A"/>
                </a:solidFill>
                <a:latin typeface="Consolas"/>
              </a:rPr>
              <a:t>MTTD БЕЗ МОНИТОРИНГА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7" y="2331720"/>
            <a:ext cx="3017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0616B"/>
                </a:solidFill>
                <a:latin typeface="Consolas"/>
              </a:rPr>
              <a:t>≈2 734 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2971800"/>
            <a:ext cx="3017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A89C88"/>
                </a:solidFill>
                <a:latin typeface="Segoe UI"/>
              </a:rPr>
              <a:t>с мониторингом — ≤ 24 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06240" y="1828800"/>
            <a:ext cx="3383280" cy="1737360"/>
          </a:xfrm>
          <a:prstGeom prst="roundRect">
            <a:avLst>
              <a:gd name="adj" fmla="val 6000"/>
            </a:avLst>
          </a:prstGeom>
          <a:solidFill>
            <a:srgbClr val="1D1A14"/>
          </a:solidFill>
          <a:ln w="12700">
            <a:solidFill>
              <a:srgbClr val="332E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07407" y="1993392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756A5A"/>
                </a:solidFill>
                <a:latin typeface="Consolas"/>
              </a:rPr>
              <a:t>ОБЪЁМ ИСПРАВЛЕНИЯ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07407" y="2331720"/>
            <a:ext cx="3017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DBA25A"/>
                </a:solidFill>
                <a:latin typeface="Consolas"/>
              </a:rPr>
              <a:t>5 000 заявок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07407" y="2971800"/>
            <a:ext cx="3017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A89C88"/>
                </a:solidFill>
                <a:latin typeface="Segoe UI"/>
              </a:rPr>
              <a:t>≈4 190 чел.-ч, очередь ≈16 мес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0" y="1828800"/>
            <a:ext cx="3749039" cy="1737360"/>
          </a:xfrm>
          <a:prstGeom prst="roundRect">
            <a:avLst>
              <a:gd name="adj" fmla="val 6000"/>
            </a:avLst>
          </a:prstGeom>
          <a:solidFill>
            <a:srgbClr val="1D1A14"/>
          </a:solidFill>
          <a:ln w="12700">
            <a:solidFill>
              <a:srgbClr val="332E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73568" y="1993392"/>
            <a:ext cx="338327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756A5A"/>
                </a:solidFill>
                <a:latin typeface="Consolas"/>
              </a:rPr>
              <a:t>РАЗБОР ПО БАЛАНСУ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73568" y="2331720"/>
            <a:ext cx="338327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DBA25A"/>
                </a:solidFill>
                <a:latin typeface="Consolas"/>
              </a:rPr>
              <a:t>34 195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73568" y="2971800"/>
            <a:ext cx="338327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A89C88"/>
                </a:solidFill>
                <a:latin typeface="Segoe UI"/>
              </a:rPr>
              <a:t>пар — след вставки; ещё 25 027 — потери загрузки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931920"/>
            <a:ext cx="108813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350">
                <a:solidFill>
                  <a:srgbClr val="A89C88"/>
                </a:solidFill>
                <a:latin typeface="Segoe UI"/>
              </a:rPr>
              <a:t>―  Решающая улика: испорчено ровно 10% кодов, а не 100%. Баг внутри ETL задел бы весь поток — значит правили подмножество строк отдельной операцией.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350">
                <a:solidFill>
                  <a:srgbClr val="A89C88"/>
                </a:solidFill>
                <a:latin typeface="Segoe UI"/>
              </a:rPr>
              <a:t>―  Реконструкция: загрузка потеряла ≈190 000 операций → 90 000 довосстановили вручную → в этом цикле код организации потерял ведущий ноль → остальные 100 000 не вернули.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350">
                <a:solidFill>
                  <a:srgbClr val="A89C88"/>
                </a:solidFill>
                <a:latin typeface="Segoe UI"/>
              </a:rPr>
              <a:t>―  Правило DQ-11 такую вставку не ловит: вставляли реальные операции из приёмки. Ловит DQ-14 — баланс перемещения.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350">
                <a:solidFill>
                  <a:srgbClr val="A89C88"/>
                </a:solidFill>
                <a:latin typeface="Segoe UI"/>
              </a:rPr>
              <a:t>―  Чего данные не доказывают: кто и когда выполнил вставку — журнала изменений витрины нет.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75720" y="6473952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756A5A"/>
                </a:solidFill>
                <a:latin typeface="Consola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4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DBA25A"/>
                </a:solidFill>
                <a:latin typeface="Segoe UI"/>
              </a:rPr>
              <a:t>ШАГ 6 · ЭФФЕКТ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DE6D9"/>
                </a:solidFill>
                <a:latin typeface="Segoe UI Semibold"/>
              </a:rPr>
              <a:t>Цена инцидента — 5 000 заявок и 4 190 часов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783080"/>
          <a:ext cx="6675120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160"/>
                <a:gridCol w="1371600"/>
                <a:gridCol w="1737360"/>
              </a:tblGrid>
              <a:tr h="662940">
                <a:tc>
                  <a:txBody>
                    <a:bodyPr/>
                    <a:lstStyle/>
                    <a:p>
                      <a:pPr algn="l"/>
                      <a:r>
                        <a:rPr b="1" sz="1300">
                          <a:solidFill>
                            <a:srgbClr val="EDE6D9"/>
                          </a:solidFill>
                          <a:latin typeface="Segoe UI"/>
                        </a:rPr>
                        <a:t>Сценарий</a:t>
                      </a:r>
                    </a:p>
                  </a:txBody>
                  <a:tcPr>
                    <a:solidFill>
                      <a:srgbClr val="332E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00">
                          <a:solidFill>
                            <a:srgbClr val="EDE6D9"/>
                          </a:solidFill>
                          <a:latin typeface="Segoe UI"/>
                        </a:rPr>
                        <a:t>Заявок</a:t>
                      </a:r>
                    </a:p>
                  </a:txBody>
                  <a:tcPr>
                    <a:solidFill>
                      <a:srgbClr val="332E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00">
                          <a:solidFill>
                            <a:srgbClr val="EDE6D9"/>
                          </a:solidFill>
                          <a:latin typeface="Segoe UI"/>
                        </a:rPr>
                        <a:t>Объём работ</a:t>
                      </a:r>
                    </a:p>
                  </a:txBody>
                  <a:tcPr>
                    <a:solidFill>
                      <a:srgbClr val="332E24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A89C88"/>
                          </a:solidFill>
                          <a:latin typeface="Consolas"/>
                        </a:rPr>
                        <a:t>Без мониторинга (как есть)</a:t>
                      </a:r>
                    </a:p>
                  </a:txBody>
                  <a:tcPr>
                    <a:solidFill>
                      <a:srgbClr val="1D1A1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A89C88"/>
                          </a:solidFill>
                          <a:latin typeface="Consolas"/>
                        </a:rPr>
                        <a:t>5 000</a:t>
                      </a:r>
                    </a:p>
                  </a:txBody>
                  <a:tcPr>
                    <a:solidFill>
                      <a:srgbClr val="1D1A1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A89C88"/>
                          </a:solidFill>
                          <a:latin typeface="Consolas"/>
                        </a:rPr>
                        <a:t>≈4 190 чел.-ч</a:t>
                      </a:r>
                    </a:p>
                  </a:txBody>
                  <a:tcPr>
                    <a:solidFill>
                      <a:srgbClr val="1D1A14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A89C88"/>
                          </a:solidFill>
                          <a:latin typeface="Consolas"/>
                        </a:rPr>
                        <a:t>Мониторинг + гейт публикации</a:t>
                      </a:r>
                    </a:p>
                  </a:txBody>
                  <a:tcPr>
                    <a:solidFill>
                      <a:srgbClr val="1D1A1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A89C88"/>
                          </a:solidFill>
                          <a:latin typeface="Consolas"/>
                        </a:rPr>
                        <a:t>0</a:t>
                      </a:r>
                    </a:p>
                  </a:txBody>
                  <a:tcPr>
                    <a:solidFill>
                      <a:srgbClr val="1D1A1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A89C88"/>
                          </a:solidFill>
                          <a:latin typeface="Consolas"/>
                        </a:rPr>
                        <a:t>17 чел.-ч</a:t>
                      </a:r>
                    </a:p>
                  </a:txBody>
                  <a:tcPr>
                    <a:solidFill>
                      <a:srgbClr val="1D1A14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A89C88"/>
                          </a:solidFill>
                          <a:latin typeface="Consolas"/>
                        </a:rPr>
                        <a:t>Гейт обошли, данные ушли</a:t>
                      </a:r>
                    </a:p>
                  </a:txBody>
                  <a:tcPr>
                    <a:solidFill>
                      <a:srgbClr val="1D1A1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A89C88"/>
                          </a:solidFill>
                          <a:latin typeface="Consolas"/>
                        </a:rPr>
                        <a:t>810</a:t>
                      </a:r>
                    </a:p>
                  </a:txBody>
                  <a:tcPr>
                    <a:solidFill>
                      <a:srgbClr val="1D1A1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A89C88"/>
                          </a:solidFill>
                          <a:latin typeface="Consolas"/>
                        </a:rPr>
                        <a:t>≈690 чел.-ч</a:t>
                      </a:r>
                    </a:p>
                  </a:txBody>
                  <a:tcPr>
                    <a:solidFill>
                      <a:srgbClr val="1D1A14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4663440"/>
            <a:ext cx="66751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300">
                <a:solidFill>
                  <a:srgbClr val="A89C88"/>
                </a:solidFill>
                <a:latin typeface="Segoe UI"/>
              </a:rPr>
              <a:t>―  Заявка = обращение одной организации на исправление её данных; число заявок считается запросом, а не оценивается экспертно.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300">
                <a:solidFill>
                  <a:srgbClr val="A89C88"/>
                </a:solidFill>
                <a:latin typeface="Segoe UI"/>
              </a:rPr>
              <a:t>―  Норматив 50 мин на заявку разложен по этапам: приём, сверка с приёмкой, корректировка, ответ.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589520" y="1783080"/>
            <a:ext cx="3931920" cy="4389120"/>
          </a:xfrm>
          <a:prstGeom prst="roundRect">
            <a:avLst>
              <a:gd name="adj" fmla="val 6000"/>
            </a:avLst>
          </a:prstGeom>
          <a:solidFill>
            <a:srgbClr val="1D1A14"/>
          </a:solidFill>
          <a:ln w="12700">
            <a:solidFill>
              <a:srgbClr val="332E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18120" y="1965960"/>
            <a:ext cx="3474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756A5A"/>
                </a:solidFill>
                <a:latin typeface="Consolas"/>
              </a:rPr>
              <a:t>ОКУПАЕМОСТЬ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18120" y="2377440"/>
            <a:ext cx="34747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4CAF6D"/>
                </a:solidFill>
                <a:latin typeface="Segoe UI Semibold"/>
              </a:rPr>
              <a:t>142 заявки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3200400"/>
            <a:ext cx="34747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A89C88"/>
                </a:solidFill>
                <a:latin typeface="Segoe UI"/>
              </a:rPr>
              <a:t>столько нужно предотвратить,</a:t>
            </a:r>
          </a:p>
          <a:p>
            <a:pPr algn="l">
              <a:lnSpc>
                <a:spcPct val="135000"/>
              </a:lnSpc>
            </a:pPr>
            <a:r>
              <a:rPr sz="1300" b="0">
                <a:solidFill>
                  <a:srgbClr val="A89C88"/>
                </a:solidFill>
                <a:latin typeface="Segoe UI"/>
              </a:rPr>
              <a:t>чтобы окупить 118 часов</a:t>
            </a:r>
          </a:p>
          <a:p>
            <a:pPr algn="l">
              <a:lnSpc>
                <a:spcPct val="135000"/>
              </a:lnSpc>
            </a:pPr>
            <a:r>
              <a:rPr sz="1300" b="0">
                <a:solidFill>
                  <a:srgbClr val="A89C88"/>
                </a:solidFill>
                <a:latin typeface="Segoe UI"/>
              </a:rPr>
              <a:t>первого года — это 2.8%</a:t>
            </a:r>
          </a:p>
          <a:p>
            <a:pPr algn="l">
              <a:lnSpc>
                <a:spcPct val="135000"/>
              </a:lnSpc>
            </a:pPr>
            <a:r>
              <a:rPr sz="1300" b="0">
                <a:solidFill>
                  <a:srgbClr val="A89C88"/>
                </a:solidFill>
                <a:latin typeface="Segoe UI"/>
              </a:rPr>
              <a:t>одного инцидента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8120" y="4480560"/>
            <a:ext cx="34747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250">
                <a:solidFill>
                  <a:srgbClr val="A89C88"/>
                </a:solidFill>
                <a:latin typeface="Segoe UI"/>
              </a:rPr>
              <a:t>―  Вложения: 70 ч разработки + 48 ч/год поддержки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250">
                <a:solidFill>
                  <a:srgbClr val="A89C88"/>
                </a:solidFill>
                <a:latin typeface="Segoe UI"/>
              </a:rPr>
              <a:t>―  Даже при обращаемости 10% возврат 3.5×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75720" y="6473952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756A5A"/>
                </a:solidFill>
                <a:latin typeface="Consola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4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DBA25A"/>
                </a:solidFill>
                <a:latin typeface="Segoe UI"/>
              </a:rPr>
              <a:t>ШАГ 7 · СТРАТЕГИЯ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DE6D9"/>
                </a:solidFill>
                <a:latin typeface="Segoe UI Semibold"/>
              </a:rPr>
              <a:t>План внедрения в три фазы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91640"/>
            <a:ext cx="3520440" cy="3611880"/>
          </a:xfrm>
          <a:prstGeom prst="roundRect">
            <a:avLst>
              <a:gd name="adj" fmla="val 6000"/>
            </a:avLst>
          </a:prstGeom>
          <a:solidFill>
            <a:srgbClr val="1D1A14"/>
          </a:solidFill>
          <a:ln w="12700">
            <a:solidFill>
              <a:srgbClr val="332E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59" y="1828800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DBA25A"/>
                </a:solidFill>
                <a:latin typeface="Consolas"/>
              </a:rPr>
              <a:t>ПИЛОТ · 1–2 МЕС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59" y="2121408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56A5A"/>
                </a:solidFill>
                <a:latin typeface="Segoe UI"/>
              </a:rPr>
              <a:t>сделано в проекте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450592"/>
            <a:ext cx="3200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100">
                <a:solidFill>
                  <a:srgbClr val="A89C88"/>
                </a:solidFill>
                <a:latin typeface="Segoe UI"/>
              </a:rPr>
              <a:t>―  Одна витрина: doc_oper против приёмки list_doc</a:t>
            </a:r>
          </a:p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100">
                <a:solidFill>
                  <a:srgbClr val="A89C88"/>
                </a:solidFill>
                <a:latin typeface="Segoe UI"/>
              </a:rPr>
              <a:t>―  14 правил в SQL и Soda, DAG в Airflow с гейтом</a:t>
            </a:r>
          </a:p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100">
                <a:solidFill>
                  <a:srgbClr val="A89C88"/>
                </a:solidFill>
                <a:latin typeface="Segoe UI"/>
              </a:rPr>
              <a:t>―  Технический дашборд в Grafana, история прогонов</a:t>
            </a:r>
          </a:p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100">
                <a:solidFill>
                  <a:srgbClr val="A89C88"/>
                </a:solidFill>
                <a:latin typeface="Segoe UI"/>
              </a:rPr>
              <a:t>―  Хотфикс кода организации, дозагрузка потерянных операций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4617720"/>
            <a:ext cx="3200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4CAF6D"/>
                </a:solidFill>
                <a:latin typeface="Segoe UI"/>
              </a:rPr>
              <a:t>Критерий: MTTD ≤ 24 ч; критичные правила зелёные после бэкфилла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691640"/>
            <a:ext cx="3520440" cy="3611880"/>
          </a:xfrm>
          <a:prstGeom prst="roundRect">
            <a:avLst>
              <a:gd name="adj" fmla="val 6000"/>
            </a:avLst>
          </a:prstGeom>
          <a:solidFill>
            <a:srgbClr val="1D1A14"/>
          </a:solidFill>
          <a:ln w="12700">
            <a:solidFill>
              <a:srgbClr val="332E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0" y="1828800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DBA25A"/>
                </a:solidFill>
                <a:latin typeface="Consolas"/>
              </a:rPr>
              <a:t>РАСШИРЕНИЕ · 3–6 МЕС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2121408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56A5A"/>
                </a:solidFill>
                <a:latin typeface="Segoe UI"/>
              </a:rPr>
              <a:t>закрываем пробелы инцидента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2450592"/>
            <a:ext cx="3200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100">
                <a:solidFill>
                  <a:srgbClr val="A89C88"/>
                </a:solidFill>
                <a:latin typeface="Segoe UI"/>
              </a:rPr>
              <a:t>―  Журнал изменений витрины; запись — только учётной записью ETL</a:t>
            </a:r>
          </a:p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100">
                <a:solidFill>
                  <a:srgbClr val="A89C88"/>
                </a:solidFill>
                <a:latin typeface="Segoe UI"/>
              </a:rPr>
              <a:t>―  Data Contract согласован с потребителями и подписан</a:t>
            </a:r>
          </a:p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100">
                <a:solidFill>
                  <a:srgbClr val="A89C88"/>
                </a:solidFill>
                <a:latin typeface="Segoe UI"/>
              </a:rPr>
              <a:t>―  Бизнес-дашборд в ежедневном обиходе управления контроля</a:t>
            </a:r>
          </a:p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100">
                <a:solidFill>
                  <a:srgbClr val="A89C88"/>
                </a:solidFill>
                <a:latin typeface="Segoe UI"/>
              </a:rPr>
              <a:t>―  Алерты в дежурный канал, учёт заявок по инцидентам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4617720"/>
            <a:ext cx="3200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4CAF6D"/>
                </a:solidFill>
                <a:latin typeface="Segoe UI"/>
              </a:rPr>
              <a:t>Критерий: 0 ручных правок витрины; 0 заявок по DQ-дефектам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19" y="1691640"/>
            <a:ext cx="3520440" cy="3611880"/>
          </a:xfrm>
          <a:prstGeom prst="roundRect">
            <a:avLst>
              <a:gd name="adj" fmla="val 6000"/>
            </a:avLst>
          </a:prstGeom>
          <a:solidFill>
            <a:srgbClr val="1D1A14"/>
          </a:solidFill>
          <a:ln w="12700">
            <a:solidFill>
              <a:srgbClr val="332E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599" y="1828800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DBA25A"/>
                </a:solidFill>
                <a:latin typeface="Consolas"/>
              </a:rPr>
              <a:t>МАСШТАБИРОВАНИЕ · 6–12 МЕС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599" y="2121408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56A5A"/>
                </a:solidFill>
                <a:latin typeface="Segoe UI"/>
              </a:rPr>
              <a:t>весь контур приёмки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599" y="2450592"/>
            <a:ext cx="3200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100">
                <a:solidFill>
                  <a:srgbClr val="A89C88"/>
                </a:solidFill>
                <a:latin typeface="Segoe UI"/>
              </a:rPr>
              <a:t>―  Остальные витрины — по одной в месяц, те же шаблоны правил</a:t>
            </a:r>
          </a:p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100">
                <a:solidFill>
                  <a:srgbClr val="A89C88"/>
                </a:solidFill>
                <a:latin typeface="Segoe UI"/>
              </a:rPr>
              <a:t>―  Проверки на входе приёмки, до попадания в витрину</a:t>
            </a:r>
          </a:p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100">
                <a:solidFill>
                  <a:srgbClr val="A89C88"/>
                </a:solidFill>
                <a:latin typeface="Segoe UI"/>
              </a:rPr>
              <a:t>―  Классификация ИП / юрлицо (152-ФЗ), каталог данных с владельцами</a:t>
            </a:r>
          </a:p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100">
                <a:solidFill>
                  <a:srgbClr val="A89C88"/>
                </a:solidFill>
                <a:latin typeface="Segoe UI"/>
              </a:rPr>
              <a:t>―  Квартальный пересчёт эффекта, ревизия порогов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599" y="4617720"/>
            <a:ext cx="3200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4CAF6D"/>
                </a:solidFill>
                <a:latin typeface="Segoe UI"/>
              </a:rPr>
              <a:t>Критерий: ≥ 80% витрин под контрактом; дефекты ловятся до витрины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5468112"/>
            <a:ext cx="10881360" cy="914400"/>
          </a:xfrm>
          <a:prstGeom prst="roundRect">
            <a:avLst>
              <a:gd name="adj" fmla="val 6000"/>
            </a:avLst>
          </a:prstGeom>
          <a:solidFill>
            <a:srgbClr val="1D1A14"/>
          </a:solidFill>
          <a:ln w="12700">
            <a:solidFill>
              <a:srgbClr val="332E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5559552"/>
            <a:ext cx="2377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756A5A"/>
                </a:solidFill>
                <a:latin typeface="Consolas"/>
              </a:rPr>
              <a:t>ЧТО НУЖНО ОТ РУКОВОДСТВА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5852160"/>
            <a:ext cx="10424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A89C88"/>
                </a:solidFill>
                <a:latin typeface="Segoe UI"/>
              </a:rPr>
              <a:t>владелец инициативы (совмещение, не новый штат)  ·  70 ч разработки + 4 ч/мес поддержки  ·  решение по журналу изменений витрины  ·  30 мин юриста на классификацию ИП / юрлицо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75720" y="6473952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756A5A"/>
                </a:solidFill>
                <a:latin typeface="Consolas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Качество данных в контуре приёмки ЕГАИС</dc:title>
  <dc:subject/>
  <dc:creator>SerDizRu</dc:creator>
  <cp:keywords/>
  <cp:lastModifiedBy>SerDizRu</cp:lastModifiedBy>
  <cp:revision>1</cp:revision>
  <dcterms:created xsi:type="dcterms:W3CDTF">2026-09-07T21:58:23Z</dcterms:created>
  <dcterms:modified xsi:type="dcterms:W3CDTF">2013-01-27T09:15:58Z</dcterms:modified>
  <cp:category/>
</cp:coreProperties>
</file>