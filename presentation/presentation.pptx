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BA25A"/>
                </a:solidFill>
                <a:latin typeface="Consolas"/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DE6D9"/>
                </a:solidFill>
                <a:latin typeface="Segoe UI Semibold"/>
              </a:rPr>
              <a:t>Качество данных в контуре</a:t>
            </a:r>
          </a:p>
          <a:p>
            <a:pPr algn="l">
              <a:lnSpc>
                <a:spcPct val="105000"/>
              </a:lnSpc>
            </a:pPr>
            <a:r>
              <a:rPr sz="3800" b="1">
                <a:solidFill>
                  <a:srgbClr val="EDE6D9"/>
                </a:solidFill>
                <a:latin typeface="Segoe UI Semibold"/>
              </a:rPr>
              <a:t>приёмки ЕГАИС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A89C88"/>
                </a:solidFill>
                <a:latin typeface="Segoe UI"/>
              </a:rPr>
              <a:t>Аудит витрины · расследование дефекта · прототип мониторинга · стратегия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56A5A"/>
                </a:solidFill>
                <a:latin typeface="Consolas"/>
              </a:rPr>
              <a:t>Проектная работа · Data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1 · 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Почему это важно для нас как оператора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5 000 организаций передают в ЕГАИС складские операции; на нашей витрине строятся сверка деклараций, отраслевая статистика и основания для контрольных мероприятий.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Принятый от организаций поток проверен и целостен — значит дефекты витрины возникли внутри нашего контура.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Искажённый код организации → операцию нельзя сопоставить с реестром лицензиатов; для ИП это ещё и неточные персональные данные (152-ФЗ).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Выделенной DQ-функции нет, мониторинга не было — дефект жил в витрине месяцами и не был замечен.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37360"/>
            <a:ext cx="3749039" cy="457200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965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ДОМЕН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317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DBA25A"/>
                </a:solidFill>
                <a:latin typeface="Segoe UI Semibold"/>
              </a:rPr>
              <a:t>Государственный учёт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DBA25A"/>
                </a:solidFill>
                <a:latin typeface="Segoe UI Semibold"/>
              </a:rPr>
              <a:t>оборота алкоголя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8404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ПРИЁМКА / ВИТРИНА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42062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9C88"/>
                </a:solidFill>
                <a:latin typeface="Consolas"/>
              </a:rPr>
              <a:t>list_doc (приёмка)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9C88"/>
                </a:solidFill>
                <a:latin typeface="Consolas"/>
              </a:rPr>
              <a:t>→ doc_oper (витрина)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2 · ПРОФИЛИРОВАНИЕ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Что показал аудит витрины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93392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ПОЛНОТА ЗАГРУЗКИ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3317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90.0%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100 000 операций не доехало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1993392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ТОЧНОСТЬ КОДА ОРГ.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23317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90.0%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9718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90 000 кодов повреждены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993392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БАЛАНС ПЕРЕМЕЩЕНИЙ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317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65.0%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9718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не сходится у 96 309 пар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828800"/>
            <a:ext cx="251460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993392"/>
            <a:ext cx="2148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ПАРТИИ (СПРАВКА 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2331720"/>
            <a:ext cx="2148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10 000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8008" y="297180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задеты потерями все до одной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Принятый поток целостен: ключ уникален, обязательные поля заполнены, код организации на 100% валиден — данные испортились у нас.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Дефектов два, и они связаны: загрузка потеряла операции, их довосстановили вручную — и при этой правке испортился код организации.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Справка А сопровождает партию, справка Б — перемещение: номера повторяются по природе документа, поэтому проверяется иерархия, а не уникальность.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Приёмка (12 колонок) шире витрины (9) — при загрузке 3 атрибута теряются молча, плюс сужается точность количества.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2 · КЛАССИФИКАЦИЯ ПРОБЛЕМ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Что нашли и как это классифицировали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297680"/>
                <a:gridCol w="2377440"/>
                <a:gridCol w="19202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Проблема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Класс DQ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Затронуто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Критичность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100 000 принятых операций не дошли до витрины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Полнота (загрузка)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10% потока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Код организации теряет ведущий 0 при ручной довставке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Точность / формат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10% витрины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Баланс перемещений не сходится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Согласованность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35% пар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Ни одна партия не дошла до витрины целиком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Полнота (следствие 1)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10 000 партий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Журнал изменений витрины не ведётся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Прослеживаемость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756A5A"/>
                </a:solidFill>
                <a:latin typeface="Segoe UI"/>
              </a:rPr>
              <a:t>―  Проблема 2 — следствие попытки починить проблему 1: данные довставили вручную и не заметили побочного эффекта (Шаг 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ШАГИ 3-4 · ПРАВИЛА И АВТОМАТИЗАЦИЯ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14 правил → SQL и Soda Core → ежедневный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50">
                <a:solidFill>
                  <a:srgbClr val="A89C88"/>
                </a:solidFill>
                <a:latin typeface="Segoe UI"/>
              </a:rPr>
              <a:t>―  Реестр из 14 бизнес-правил (полнота, точность, валидность, уникальность, согласованность, своевременность, целостность) с владельцами и порогами.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50">
                <a:solidFill>
                  <a:srgbClr val="A89C88"/>
                </a:solidFill>
                <a:latin typeface="Segoe UI"/>
              </a:rPr>
              <a:t>―  DQ-14 — баланс перемещения: списать по справке Б больше, чем получено, нельзя. Именно он ловит последствия ручных правок и служит инструментом разбора заявок.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50">
                <a:solidFill>
                  <a:srgbClr val="A89C88"/>
                </a:solidFill>
                <a:latin typeface="Segoe UI"/>
              </a:rPr>
              <a:t>―  Каждое правило — исполняемый SQL (02_dq_rules.sql) и конфиг Soda Core (checks.yml); обе реализации прогнаны на реальной БД и дали одинаковый вердикт.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50">
                <a:solidFill>
                  <a:srgbClr val="A89C88"/>
                </a:solidFill>
                <a:latin typeface="Segoe UI"/>
              </a:rPr>
              <a:t>―  Airflow DAG развёрнут и работает по расписанию с 23.08: креды из Connection, гейт блокирует публикацию витрины в контур контроля.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83080"/>
            <a:ext cx="48463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ПОСЛЕДНИЙ ПРОГОН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22860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DQ-01 Заполненность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60" y="2304288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37392" y="226771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56032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DQ-02 Полнота загрузки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2578608"/>
            <a:ext cx="1645920" cy="164592"/>
          </a:xfrm>
          <a:prstGeom prst="roundRect">
            <a:avLst/>
          </a:prstGeom>
          <a:solidFill>
            <a:srgbClr val="E0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37392" y="254203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83463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DQ-03 Формат кода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852927"/>
            <a:ext cx="1645920" cy="164592"/>
          </a:xfrm>
          <a:prstGeom prst="roundRect">
            <a:avLst/>
          </a:prstGeom>
          <a:solidFill>
            <a:srgbClr val="E0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37392" y="281635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10895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DQ-04 Точность кода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3127247"/>
            <a:ext cx="1645920" cy="164592"/>
          </a:xfrm>
          <a:prstGeom prst="roundRect">
            <a:avLst/>
          </a:prstGeom>
          <a:solidFill>
            <a:srgbClr val="E0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7392" y="309067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38327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DQ-05 Уникальность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40156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7392" y="336499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65759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DQ-06 Тип документа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67588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37392" y="363931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93191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DQ-07 Знак количества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1160" y="395020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37392" y="391363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0623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DQ-08 Свежесть дат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1160" y="422452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37392" y="418795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48055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DQ-09 Код продукции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60" y="449884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7392" y="446227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75487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DQ-10 Формат справок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81160" y="477316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37392" y="473659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502919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DQ-11 Происхождение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4748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37392" y="501091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30351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DQ-12 Иерархия справок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81160" y="532180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37392" y="528523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557783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DQ-13 Однородность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5596127"/>
            <a:ext cx="1828800" cy="164592"/>
          </a:xfrm>
          <a:prstGeom prst="roundRect">
            <a:avLst/>
          </a:prstGeom>
          <a:solidFill>
            <a:srgbClr val="4C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37392" y="555955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5852159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89C88"/>
                </a:solidFill>
                <a:latin typeface="Consolas"/>
              </a:rPr>
              <a:t>DQ-14 Баланс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81160" y="5870447"/>
            <a:ext cx="1188720" cy="164592"/>
          </a:xfrm>
          <a:prstGeom prst="roundRect">
            <a:avLst/>
          </a:prstGeom>
          <a:solidFill>
            <a:srgbClr val="E0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37392" y="583387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89C88"/>
                </a:solidFill>
                <a:latin typeface="Consolas"/>
              </a:rPr>
              <a:t>65%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4 ·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Два дашборда: инженерам и контролю рынка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03520" cy="420624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BA25A"/>
                </a:solidFill>
                <a:latin typeface="Consolas"/>
              </a:rPr>
              <a:t>ТЕХНИЧЕСКИЙ (DQ / 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14 правил, pass rate по каждому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Тренд critical-правил по дням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Полная история запусков пайплайна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Собирается скриптом из БД: ноль ручных цифр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Прод-вариант — Grafana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BA25A"/>
                </a:solidFill>
                <a:latin typeface="Consolas"/>
              </a:rPr>
              <a:t>БИЗНЕС (КОНТРОЛЬ РЫНКА)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Один вопрос: «можно ли доверять сегодняшним данным?»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Явно сказано: организации отчитались корректно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>
                <a:solidFill>
                  <a:srgbClr val="A89C88"/>
                </a:solidFill>
                <a:latin typeface="Segoe UI"/>
              </a:rPr>
              <a:t>―  Обновляется тем же скриптом после каждого прогона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5 · КОНТРАКТЫ И РЕГУЛЯТОРИКА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Data Contract + риски по 152-ФЗ и 171-ФЗ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Data Contract — обязательства команды загрузки перед контуром контроля: схема, SLA свежести, quality-пороги, строковый тип кода организации.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Искажённый код организации-ИП — это неточные персональные данные: ч. 6 ст. 5 152-ФЗ требует точности, ст. 21 — уточнить с момента выявления.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Потерянные операции → ошибочные основания для контрольных мероприятий (КоАП ст. 14.19) и искажение отраслевой статистики.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83080"/>
            <a:ext cx="48463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СНИЖАЮТ РИСК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237744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DQ-02 — ни одна принятая операция не теряется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DQ-03/DQ-04 — код организации совпадает с принятым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DQ-11 — в витрину не попадают записи мимо приёмки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DQ-14 — баланс товародвижения сходится по каждой поставке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Журнал изменений витрины: кто и когда правил данные — сейчас не ведётся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6 · ИНЦИДЕНТ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Расследование: чинили одно — сломали другое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9339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MTTD БЕЗ МОНИТОРИНГА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33172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≈2 734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с мониторингом — ≤ 24 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8288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7" y="199339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ОБЪЁМ ИСПРАВЛЕНИЯ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233172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DBA25A"/>
                </a:solidFill>
                <a:latin typeface="Consolas"/>
              </a:rPr>
              <a:t>5 000 заявок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≈4 190 чел.-ч, очередь ≈16 мес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828800"/>
            <a:ext cx="3749039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993392"/>
            <a:ext cx="3383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РАЗБОР ПО БАЛАНСУ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331720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DBA25A"/>
                </a:solidFill>
                <a:latin typeface="Consolas"/>
              </a:rPr>
              <a:t>34 195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971800"/>
            <a:ext cx="3383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пар — след вставки; ещё 25 027 — потери загрузки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Решающая улика: испорчено ровно 10% кодов, а не 100%. Баг внутри ETL задел бы весь поток — значит правили подмножество строк отдельной операцией.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Реконструкция: загрузка потеряла ≈190 000 операций → 90 000 довосстановили вручную → в этом цикле код организации потерял ведущий ноль → остальные 100 000 не вернули.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Правило DQ-11 такую вставку не ловит: вставляли реальные операции из приёмки. Ловит DQ-14 — баланс перемещения.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Чего данные не доказывают: кто и когда выполнил вставку — журнала изменений витрины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6 · 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Цена инцидента — 5 000 заявок и 4 190 часов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66751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371600"/>
                <a:gridCol w="1737360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Сценарий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Заявок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Объём работ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Без мониторинга (как есть)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5 000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≈4 190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Мониторинг + гейт публикации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17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Гейт обошли, данные ушли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810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≈690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Заявка = обращение одной организации на исправление её данных; число заявок считается запросом, а не оценивается экспертно.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Норматив 50 мин на заявку разложен по этапам: приём, сверка с приёмкой, корректировка, ответ.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39319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6596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ОКУПАЕМОСТЬ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3774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4CAF6D"/>
                </a:solidFill>
                <a:latin typeface="Segoe UI Semibold"/>
              </a:rPr>
              <a:t>142 заявки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2004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столько нужно предотвратить,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чтобы окупить 118 часов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первого года — это 2.8%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одного инцидента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48056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>
                <a:solidFill>
                  <a:srgbClr val="A89C88"/>
                </a:solidFill>
                <a:latin typeface="Segoe UI"/>
              </a:rPr>
              <a:t>―  Вложения: 70 ч разработки + 48 ч/год поддержки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>
                <a:solidFill>
                  <a:srgbClr val="A89C88"/>
                </a:solidFill>
                <a:latin typeface="Segoe UI"/>
              </a:rPr>
              <a:t>―  Даже при обращаемости 10% возврат 3.5×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7 · СТРАТЕГИЯ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Что нужно от руководства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Утвердить владельца DQ-инициативы (совмещение роли на первой итерации, не новый штат).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70 часов на разработку (Фазы 0-2) и 4 часа в месяц на поддержку правил.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Решение по журналу изменений витрины — без него расследования упираются в догадки.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30 минут юриста — классификация организаций юрлицо/ИП для применимости 152-ФЗ.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828800"/>
            <a:ext cx="48463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20116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ДОРОЖНАЯ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24231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Нед. 1-2 — профилирование приёмки и витрины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Нед. 3-4 — глоссарий и 8-12 правил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Нед. 5-8 — пайплайн, Soda Core, Airflow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Нед. 9-10 — Data Contract, журнал изменений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С нед. 10 — инциденты и учёт заявок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SerDizRu</dc:creator>
  <dc:title>Качество данных в контуре приёмки ЕГАИС</dc:title>
  <dc:subject/>
  <dc:creator>SerDizRu</dc:creator>
  <cp:keywords/>
  <cp:lastModifiedBy>SerDizRu</cp:lastModifiedBy>
  <cp:revision>1</cp:revision>
  <dcterms:created xsi:type="dcterms:W3CDTF">2026-09-01T00:08:52Z</dcterms:created>
  <dcterms:modified xsi:type="dcterms:W3CDTF">2013-01-27T09:15:58Z</dcterms:modified>
  <cp:category/>
</cp:coreProperties>
</file>