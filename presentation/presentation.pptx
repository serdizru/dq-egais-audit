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BA25A"/>
                </a:solidFill>
                <a:latin typeface="Consolas"/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EDE6D9"/>
                </a:solidFill>
                <a:latin typeface="Segoe UI Semibold"/>
              </a:rPr>
              <a:t>Качество данных в контуре</a:t>
            </a:r>
          </a:p>
          <a:p>
            <a:pPr algn="l">
              <a:lnSpc>
                <a:spcPct val="105000"/>
              </a:lnSpc>
            </a:pPr>
            <a:r>
              <a:rPr sz="3800" b="1">
                <a:solidFill>
                  <a:srgbClr val="EDE6D9"/>
                </a:solidFill>
                <a:latin typeface="Segoe UI Semibold"/>
              </a:rPr>
              <a:t>приёмки ЕГАИС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A89C88"/>
                </a:solidFill>
                <a:latin typeface="Segoe UI"/>
              </a:rPr>
              <a:t>Аудит витрины · расследование дефекта · прототип мониторинга · стратегия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56A5A"/>
                </a:solidFill>
                <a:latin typeface="Consolas"/>
              </a:rPr>
              <a:t>Проектная работа · Data Quality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1 · КОНТЕКСТ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Почему это важно для нас как оператора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5 000 организаций передают в ЕГАИС складские операции; на нашей витрине строятся сверка деклараций, отраслевая статистика и основания для контрольных мероприятий.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Принятый от организаций поток проверен и целостен — значит дефекты витрины возникли внутри нашего контура.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Искажённый код организации → операцию нельзя сопоставить с реестром лицензиатов; для ИП это ещё и неточные персональные данные (152-ФЗ).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50">
                <a:solidFill>
                  <a:srgbClr val="A89C88"/>
                </a:solidFill>
                <a:latin typeface="Segoe UI"/>
              </a:rPr>
              <a:t>―  Выделенной DQ-функции нет, мониторинга не было — дефект жил в витрине месяцами и не был замечен.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37360"/>
            <a:ext cx="3749039" cy="457200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965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ДОМЕН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317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DBA25A"/>
                </a:solidFill>
                <a:latin typeface="Segoe UI Semibold"/>
              </a:rPr>
              <a:t>Государственный учёт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DBA25A"/>
                </a:solidFill>
                <a:latin typeface="Segoe UI Semibold"/>
              </a:rPr>
              <a:t>оборота алкоголя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38404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ПРИЁМКА / ВИТРИНА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42062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9C88"/>
                </a:solidFill>
                <a:latin typeface="Consolas"/>
              </a:rPr>
              <a:t>list_doc (приёмка)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A89C88"/>
                </a:solidFill>
                <a:latin typeface="Consolas"/>
              </a:rPr>
              <a:t>→ doc_oper (витрина)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2 · ПРОФИЛИРОВАНИЕ И КЛАССИФИКАЦИЯ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Что показал аудит: шесть проблем и их масштаб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88136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663440"/>
                <a:gridCol w="1965960"/>
                <a:gridCol w="2377440"/>
                <a:gridCol w="1463040"/>
              </a:tblGrid>
              <a:tr h="489857"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Проблема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Класс DQ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Масштаб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50">
                          <a:solidFill>
                            <a:srgbClr val="EDE6D9"/>
                          </a:solidFill>
                          <a:latin typeface="Segoe UI"/>
                        </a:rPr>
                        <a:t>Критичность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Принятые операции не дошли до витрины при загрузке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Полнота (загрузка)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100 000 операций · 10% потока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Критичная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Код организации теряет ведущий 0 при ручной довставке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Точность / формат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90 000 операций · 10% витрины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Критичная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Баланс перемещений не сходится: списано больше, чем получено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Бизнес-логика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96 309 пар · 35%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Критичная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Ни одна партия не дошла до витрины целиком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Полнота (следствие 1)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10 000 партий · 100%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bottling_date и wbpid не заполнены ни разу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Полнота (схема)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1 000 000 строк · 100%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Средняя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Журнал изменений витрины не ведётся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Прослеживаемость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вся витрина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A89C88"/>
                          </a:solidFill>
                          <a:latin typeface="Consolas"/>
                        </a:rPr>
                        <a:t>Высокая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0352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>
                <a:solidFill>
                  <a:srgbClr val="756A5A"/>
                </a:solidFill>
                <a:latin typeface="Segoe UI"/>
              </a:rPr>
              <a:t>―  Принятый поток целостен: ключ уникален, поля заполнены, код организации валиден на 100% — все дефекты возникли внутри контура.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50">
                <a:solidFill>
                  <a:srgbClr val="756A5A"/>
                </a:solidFill>
                <a:latin typeface="Segoe UI"/>
              </a:rPr>
              <a:t>―  Проблема 2 — следствие попытки починить проблему 1. Проблема 3 — их общее последствие и одновременно инструмент разбора.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4 ·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Как устроен поток данных и контур контроля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756A5A"/>
                </a:solidFill>
                <a:latin typeface="Consolas"/>
              </a:rPr>
              <a:t>ПОТОК ДАННЫХ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73736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1783080"/>
            <a:ext cx="15910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ОРГАНИЗАЦИИ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112264"/>
            <a:ext cx="159105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5 000 участников рынка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передают операции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9164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2" y="1783080"/>
            <a:ext cx="17739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ПРИЁМКА list_doc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9192" y="2112264"/>
            <a:ext cx="177393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1 000 000 операций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эталон, целостен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691640"/>
            <a:ext cx="155448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1783080"/>
            <a:ext cx="140817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ETL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2112264"/>
            <a:ext cx="140817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загрузка: здесь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теряется 10%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691640"/>
            <a:ext cx="182880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1783080"/>
            <a:ext cx="1682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ВИТРИНА doc_oper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112" y="2112264"/>
            <a:ext cx="16824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900 000 операций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объект аудита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691640"/>
            <a:ext cx="105156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E0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1783080"/>
            <a:ext cx="905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0616B"/>
                </a:solidFill>
                <a:latin typeface="Consolas"/>
              </a:rPr>
              <a:t>ГЕЙТ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112264"/>
            <a:ext cx="905255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только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при PASS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169164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40112" y="1783080"/>
            <a:ext cx="14538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КОНТРОЛЬ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0112" y="2112264"/>
            <a:ext cx="14538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сверка деклараций,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статистика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77440" y="2125980"/>
            <a:ext cx="228600" cy="0"/>
          </a:xfrm>
          <a:prstGeom prst="line">
            <a:avLst/>
          </a:prstGeom>
          <a:ln w="19050">
            <a:solidFill>
              <a:srgbClr val="756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26280" y="2125980"/>
            <a:ext cx="228600" cy="0"/>
          </a:xfrm>
          <a:prstGeom prst="line">
            <a:avLst/>
          </a:prstGeom>
          <a:ln w="19050">
            <a:solidFill>
              <a:srgbClr val="756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09360" y="2125980"/>
            <a:ext cx="228600" cy="0"/>
          </a:xfrm>
          <a:prstGeom prst="line">
            <a:avLst/>
          </a:prstGeom>
          <a:ln w="19050">
            <a:solidFill>
              <a:srgbClr val="756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760" y="2125980"/>
            <a:ext cx="274320" cy="0"/>
          </a:xfrm>
          <a:prstGeom prst="line">
            <a:avLst/>
          </a:prstGeom>
          <a:ln w="19050">
            <a:solidFill>
              <a:srgbClr val="756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92640" y="2125980"/>
            <a:ext cx="274320" cy="0"/>
          </a:xfrm>
          <a:prstGeom prst="line">
            <a:avLst/>
          </a:prstGeom>
          <a:ln w="19050">
            <a:solidFill>
              <a:srgbClr val="756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31546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DBA25A"/>
                </a:solidFill>
                <a:latin typeface="Consolas"/>
              </a:rPr>
              <a:t>КОНТУР КОНТРОЛЯ КАЧЕСТВА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429000"/>
            <a:ext cx="173736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DBA2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1" y="3520440"/>
            <a:ext cx="15910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AIRFLOW DAG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1" y="3849624"/>
            <a:ext cx="159105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06:00 UTC ежедневно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креды из Connection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06040" y="34290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DBA2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79192" y="3520440"/>
            <a:ext cx="17739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ПАЙПЛАЙН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9192" y="3849624"/>
            <a:ext cx="177393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dq_pipeline.py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14 правил, один SQL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0" y="3429000"/>
            <a:ext cx="182880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DBA2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28032" y="3520440"/>
            <a:ext cx="1682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ИСТОРИЯ ПРОГОНОВ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28032" y="3849624"/>
            <a:ext cx="16824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dq_run_history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dq_check_results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12280" y="3429000"/>
            <a:ext cx="1828800" cy="8686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DBA2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85432" y="3520440"/>
            <a:ext cx="1682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GRAFANA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5432" y="3849624"/>
            <a:ext cx="16824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технический дашборд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бизнес-дашборд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77440" y="3863339"/>
            <a:ext cx="228600" cy="0"/>
          </a:xfrm>
          <a:prstGeom prst="line">
            <a:avLst/>
          </a:prstGeom>
          <a:ln w="19050">
            <a:solidFill>
              <a:srgbClr val="DBA2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526280" y="3863339"/>
            <a:ext cx="228600" cy="0"/>
          </a:xfrm>
          <a:prstGeom prst="line">
            <a:avLst/>
          </a:prstGeom>
          <a:ln w="19050">
            <a:solidFill>
              <a:srgbClr val="DBA2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583680" y="3863339"/>
            <a:ext cx="228600" cy="0"/>
          </a:xfrm>
          <a:prstGeom prst="line">
            <a:avLst/>
          </a:prstGeom>
          <a:ln w="19050">
            <a:solidFill>
              <a:srgbClr val="DBA2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566160" y="2560320"/>
            <a:ext cx="0" cy="868680"/>
          </a:xfrm>
          <a:prstGeom prst="line">
            <a:avLst/>
          </a:prstGeom>
          <a:ln w="19050">
            <a:solidFill>
              <a:srgbClr val="DBA2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206240" y="2560320"/>
            <a:ext cx="3246120" cy="868680"/>
          </a:xfrm>
          <a:prstGeom prst="line">
            <a:avLst/>
          </a:prstGeom>
          <a:ln w="19050">
            <a:solidFill>
              <a:srgbClr val="DBA2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703320" y="2743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DBA25A"/>
                </a:solidFill>
                <a:latin typeface="Consolas"/>
              </a:rPr>
              <a:t>сверка витрины с эталоном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4114800" y="2560320"/>
            <a:ext cx="5029200" cy="868680"/>
          </a:xfrm>
          <a:prstGeom prst="line">
            <a:avLst/>
          </a:prstGeom>
          <a:ln w="22225">
            <a:solidFill>
              <a:srgbClr val="E061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720840" y="278892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E0616B"/>
                </a:solidFill>
                <a:latin typeface="Consolas"/>
              </a:rPr>
              <a:t>PASS / FAIL → гейт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06040" y="4846320"/>
            <a:ext cx="1920240" cy="77724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7FB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79192" y="4937759"/>
            <a:ext cx="17739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DE6D9"/>
                </a:solidFill>
                <a:latin typeface="Consolas"/>
              </a:rPr>
              <a:t>SODA CORE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9192" y="5266944"/>
            <a:ext cx="17739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checks.yml — те же правила,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вердикт совпал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566160" y="4297680"/>
            <a:ext cx="0" cy="548640"/>
          </a:xfrm>
          <a:prstGeom prst="line">
            <a:avLst/>
          </a:prstGeom>
          <a:ln w="19050">
            <a:solidFill>
              <a:srgbClr val="7FB0E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4754880" y="4846320"/>
            <a:ext cx="1828800" cy="77724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9050">
            <a:solidFill>
              <a:srgbClr val="E0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28032" y="4937759"/>
            <a:ext cx="1682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E0616B"/>
                </a:solidFill>
                <a:latin typeface="Consolas"/>
              </a:rPr>
              <a:t>АЛЕРТ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28032" y="5266944"/>
            <a:ext cx="16824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notify_on_failure в DAG</a:t>
            </a:r>
          </a:p>
          <a:p>
            <a:pPr algn="ctr">
              <a:lnSpc>
                <a:spcPct val="110000"/>
              </a:lnSpc>
            </a:pPr>
            <a:r>
              <a:rPr sz="900" b="0">
                <a:solidFill>
                  <a:srgbClr val="A89C88"/>
                </a:solidFill>
                <a:latin typeface="Segoe UI"/>
              </a:rPr>
              <a:t>alerts.yml в Grafana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526280" y="4297680"/>
            <a:ext cx="228600" cy="731520"/>
          </a:xfrm>
          <a:prstGeom prst="line">
            <a:avLst/>
          </a:prstGeom>
          <a:ln w="19050">
            <a:solidFill>
              <a:srgbClr val="E061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6583680" y="4297680"/>
            <a:ext cx="1142999" cy="731520"/>
          </a:xfrm>
          <a:prstGeom prst="line">
            <a:avLst/>
          </a:prstGeom>
          <a:ln w="19050">
            <a:solidFill>
              <a:srgbClr val="E061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49440" y="484632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A89C88"/>
                </a:solidFill>
                <a:latin typeface="Segoe UI"/>
              </a:rPr>
              <a:t>Гейт и алерт — разные вещи: алерт сообщает людям, гейт не выпускает данные. Провал критичного правила (DQ-02/03/04/11/14) → DAG красный → таск публикации не запускается.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3 · РЕЕСТР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14 правил в трёх категориях — SQL и Soda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520440" cy="41605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ПОЛНОТА И ЦЕЛОСТНОСТЬ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DQ-01  Заполненность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24028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9631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Все 8 обязательных полей операции не пусты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13639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DQ-02  Полнота загрузки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13639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E0616B"/>
                </a:solidFill>
                <a:latin typeface="Consolas"/>
              </a:rPr>
              <a:t>FAIL 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92424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Сколько принято — столько и доехало до витрины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032504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DQ-05  Уникальность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032504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88536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Операция не задвоена повторной загрузкой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928616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DQ-11  Происхождение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928616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18464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В витрине нет записей, которых не было в приёмке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691640"/>
            <a:ext cx="3520440" cy="41605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ТОЧНОСТЬ И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2402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DQ-03  Формат кода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24028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E0616B"/>
                </a:solidFill>
                <a:latin typeface="Consolas"/>
              </a:rPr>
              <a:t>FAIL 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49631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8 цифр с ведущим нулём — иначе не найти в реестре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13639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DQ-04  Точность vs приёмка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13639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E0616B"/>
                </a:solidFill>
                <a:latin typeface="Consolas"/>
              </a:rPr>
              <a:t>FAIL 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392424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Код в витрине совпадает с тем, что прислала организация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032504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DQ-09  Код продукции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032504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288536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Положительный, правдоподобной длины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928616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DQ-10  Формат справок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928616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518464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Номера деклараций соответствуют шаблону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1691640"/>
            <a:ext cx="3520440" cy="41605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9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БИЗНЕС-ЛОГИКА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22402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DQ-07  Знак количества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9" y="224028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249631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Приход &gt; 0, списание &lt;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9" y="313639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DQ-12  Иерархия справок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3136392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3392424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Перемещение принадлежит ровно одной партии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4032504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DQ-13  Однородность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59" y="4032504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4CAF6D"/>
                </a:solidFill>
                <a:latin typeface="Consolas"/>
              </a:rPr>
              <a:t>PASS 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599" y="4288536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Внутри справки А один код продукции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599" y="4928616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E6D9"/>
                </a:solidFill>
                <a:latin typeface="Segoe UI"/>
              </a:rPr>
              <a:t>DQ-14  Баланс поставки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4928616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E0616B"/>
                </a:solidFill>
                <a:latin typeface="Consolas"/>
              </a:rPr>
              <a:t>FAIL 65%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599" y="518464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89C88"/>
                </a:solidFill>
                <a:latin typeface="Segoe UI"/>
              </a:rPr>
              <a:t>Списать по справке Б больше, чем получено, нельзя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436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756A5A"/>
                </a:solidFill>
                <a:latin typeface="Segoe UI"/>
              </a:rPr>
              <a:t>―  Ещё два технических правила — DQ-06 тип документа и DQ-08 свежесть — зелёные. Пять критичных (DQ-02/03/04/11/14) блокируют публикацию. Каждое правило — SQL (02_dq_rules.sql) и SodaCL (checks.yml); оба движка на реальной БД дали одинаковый вердикт.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4 ·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Два дашборда: инженерам и бизнесу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623560" cy="47091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ТЕХНИЧЕСКИЙ · GRAFANA, РАЗВЁРНУТ</a:t>
            </a:r>
          </a:p>
        </p:txBody>
      </p:sp>
      <p:pic>
        <p:nvPicPr>
          <p:cNvPr id="6" name="Picture 5" descr="grafana_dq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5166360" cy="26121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0292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Pass rate по каждому из 14 правил, тренд критичных по дням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Полная история запусков пайплайна — 40+ прогонов из dq_run_history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Детали последнего FAIL-прогона: какие пары, сколько строк, порог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645920"/>
            <a:ext cx="4983480" cy="47091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783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БИЗНЕС · МОДЕЛЬ ДЛЯ GRAFANA</a:t>
            </a:r>
          </a:p>
        </p:txBody>
      </p:sp>
      <p:pic>
        <p:nvPicPr>
          <p:cNvPr id="10" name="Picture 9" descr="dashboard_busi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148840"/>
            <a:ext cx="320040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0" y="50292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Один вопрос: «можно ли доверять сегодняшним данным?»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Три числа: не доехало, искажён код, не сходится баланс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Явно сказано: организации отчитались корректно, проблема у нас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5 · КОНТРАКТЫ И РЕГУЛЯТОРИКА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Data Contract + риски по 152-ФЗ и 171-ФЗ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Data Contract — обязательства команды загрузки перед контуром контроля: схема, SLA свежести, quality-пороги, строковый тип кода организации.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Искажённый код организации-ИП — это неточные персональные данные: ч. 6 ст. 5 152-ФЗ требует точности, ст. 21 — уточнить с момента выявления.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A89C88"/>
                </a:solidFill>
                <a:latin typeface="Segoe UI"/>
              </a:rPr>
              <a:t>―  Потерянные операции → ошибочные основания для контрольных мероприятий (КоАП ст. 14.19) и искажение отраслевой статистики.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83080"/>
            <a:ext cx="4846320" cy="43891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9659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СНИЖАЮТ РИСК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237744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DQ-02 — ни одна принятая операция не теряется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DQ-03/DQ-04 — код организации совпадает с принятым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DQ-11 — в витрину не попадают записи мимо приёмки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DQ-14 — баланс товародвижения сходится по каждой поставке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Журнал изменений витрины: кто и когда правил данные — сейчас не ведётся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6 · ИНЦИДЕНТ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Расследование: чинили одно — сломали другое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99339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MTTD БЕЗ МОНИТОРИНГА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33172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0616B"/>
                </a:solidFill>
                <a:latin typeface="Consolas"/>
              </a:rPr>
              <a:t>≈2 734 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с мониторингом — ≤ 24 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82880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7" y="199339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ОБЪЁМ ИСПРАВЛЕНИЯ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233172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DBA25A"/>
                </a:solidFill>
                <a:latin typeface="Consolas"/>
              </a:rPr>
              <a:t>5 000 заявок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2971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≈4 190 чел.-ч, очередь ≈16 мес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828800"/>
            <a:ext cx="3749039" cy="173736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993392"/>
            <a:ext cx="3383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РАЗБОР ПО БАЛАНСУ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331720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DBA25A"/>
                </a:solidFill>
                <a:latin typeface="Consolas"/>
              </a:rPr>
              <a:t>34 195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971800"/>
            <a:ext cx="3383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пар — след вставки; ещё 25 027 — потери загрузки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319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Решающая улика: испорчено ровно 10% кодов, а не 100%. Баг внутри ETL задел бы весь поток — значит правили подмножество строк отдельной операцией.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Реконструкция: загрузка потеряла ≈190 000 операций → 90 000 довосстановили вручную → в этом цикле код организации потерял ведущий ноль → остальные 100 000 не вернули.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Правило DQ-11 такую вставку не ловит: вставляли реальные операции из приёмки. Ловит DQ-14 — баланс перемещения.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50">
                <a:solidFill>
                  <a:srgbClr val="A89C88"/>
                </a:solidFill>
                <a:latin typeface="Segoe UI"/>
              </a:rPr>
              <a:t>―  Чего данные не доказывают: кто и когда выполнил вставку — журнала изменений витрины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6 · ЭФФЕКТ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Цена инцидента — 5 000 заявок и 4 190 часов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66751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371600"/>
                <a:gridCol w="1737360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DE6D9"/>
                          </a:solidFill>
                          <a:latin typeface="Segoe UI"/>
                        </a:rPr>
                        <a:t>Сценарий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DE6D9"/>
                          </a:solidFill>
                          <a:latin typeface="Segoe UI"/>
                        </a:rPr>
                        <a:t>Заявок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DE6D9"/>
                          </a:solidFill>
                          <a:latin typeface="Segoe UI"/>
                        </a:rPr>
                        <a:t>Объём работ</a:t>
                      </a:r>
                    </a:p>
                  </a:txBody>
                  <a:tcPr>
                    <a:solidFill>
                      <a:srgbClr val="332E2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Без мониторинга (как есть)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5 000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≈4 190 чел.-ч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Мониторинг + гейт публикации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17 чел.-ч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Гейт обошли, данные ушли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810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A89C88"/>
                          </a:solidFill>
                          <a:latin typeface="Consolas"/>
                        </a:rPr>
                        <a:t>≈690 чел.-ч</a:t>
                      </a:r>
                    </a:p>
                  </a:txBody>
                  <a:tcPr>
                    <a:solidFill>
                      <a:srgbClr val="1D1A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6344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Заявка = обращение одной организации на исправление её данных; число заявок считается запросом, а не оценивается экспертно.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300">
                <a:solidFill>
                  <a:srgbClr val="A89C88"/>
                </a:solidFill>
                <a:latin typeface="Segoe UI"/>
              </a:rPr>
              <a:t>―  Норматив 50 мин на заявку разложен по этапам: приём, сверка с приёмкой, корректировка, ответ.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3931920" cy="438912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6596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56A5A"/>
                </a:solidFill>
                <a:latin typeface="Consolas"/>
              </a:rPr>
              <a:t>ОКУПАЕМОСТЬ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3774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4CAF6D"/>
                </a:solidFill>
                <a:latin typeface="Segoe UI Semibold"/>
              </a:rPr>
              <a:t>142 заявки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200400"/>
            <a:ext cx="3474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столько нужно предотвратить,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чтобы окупить 118 часов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первого года — это 2.8%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9C88"/>
                </a:solidFill>
                <a:latin typeface="Segoe UI"/>
              </a:rPr>
              <a:t>одного инцидента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48056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>
                <a:solidFill>
                  <a:srgbClr val="A89C88"/>
                </a:solidFill>
                <a:latin typeface="Segoe UI"/>
              </a:rPr>
              <a:t>―  Вложения: 70 ч разработки + 48 ч/год поддержки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>
                <a:solidFill>
                  <a:srgbClr val="A89C88"/>
                </a:solidFill>
                <a:latin typeface="Segoe UI"/>
              </a:rPr>
              <a:t>―  Даже при обращаемости 10% возврат 3.5×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4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DBA25A"/>
                </a:solidFill>
                <a:latin typeface="Segoe UI"/>
              </a:rPr>
              <a:t>ШАГ 7 · СТРАТЕГИЯ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6D9"/>
                </a:solidFill>
                <a:latin typeface="Segoe UI Semibold"/>
              </a:rPr>
              <a:t>План внедрения в три фазы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520440" cy="36118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ПИЛОТ · 1–2 МЕС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12140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56A5A"/>
                </a:solidFill>
                <a:latin typeface="Segoe UI"/>
              </a:rPr>
              <a:t>сделано в проекте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5059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Одна витрина: doc_oper против приёмки list_doc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14 правил в SQL и Soda, DAG в Airflow с гейтом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Технический дашборд в Grafana, история прогонов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Хотфикс кода организации, дозагрузка потерянных операций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61772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CAF6D"/>
                </a:solidFill>
                <a:latin typeface="Segoe UI"/>
              </a:rPr>
              <a:t>Критерий: MTTD ≤ 24 ч; критичные правила зелёные после бэкфилла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20440" cy="36118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РАСШИРЕНИЕ · 3–6 МЕС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2140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56A5A"/>
                </a:solidFill>
                <a:latin typeface="Segoe UI"/>
              </a:rPr>
              <a:t>закрываем пробелы инцидента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45059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Журнал изменений витрины; запись — только учётной записью ETL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Data Contract согласован с потребителями и подписан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Бизнес-дашборд в ежедневном обиходе управления контроля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Алерты в дежурный канал, учёт заявок по инцидентам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61772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CAF6D"/>
                </a:solidFill>
                <a:latin typeface="Segoe UI"/>
              </a:rPr>
              <a:t>Критерий: 0 ручных правок витрины; 0 заявок по DQ-дефектам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691640"/>
            <a:ext cx="3520440" cy="361188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BA25A"/>
                </a:solidFill>
                <a:latin typeface="Consolas"/>
              </a:rPr>
              <a:t>МАСШТАБИРОВАНИЕ · 6–12 МЕС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121408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56A5A"/>
                </a:solidFill>
                <a:latin typeface="Segoe UI"/>
              </a:rPr>
              <a:t>весь контур приёмки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45059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Остальные витрины — по одной в месяц, те же шаблоны правил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Проверки на входе приёмки, до попадания в витрину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Классификация ИП / юрлицо (152-ФЗ), каталог данных с владельцами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A89C88"/>
                </a:solidFill>
                <a:latin typeface="Segoe UI"/>
              </a:rPr>
              <a:t>―  Квартальный пересчёт эффекта, ревизия порогов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61772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CAF6D"/>
                </a:solidFill>
                <a:latin typeface="Segoe UI"/>
              </a:rPr>
              <a:t>Критерий: ≥ 80% витрин под контрактом; дефекты ловятся до витрины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68112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D1A14"/>
          </a:solidFill>
          <a:ln w="12700">
            <a:solidFill>
              <a:srgbClr val="332E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59552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756A5A"/>
                </a:solidFill>
                <a:latin typeface="Consolas"/>
              </a:rPr>
              <a:t>ЧТО НУЖНО ОТ РУКОВОДСТВА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521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89C88"/>
                </a:solidFill>
                <a:latin typeface="Segoe UI"/>
              </a:rPr>
              <a:t>владелец инициативы (совмещение, не новый штат)  ·  70 ч разработки + 4 ч/мес поддержки  ·  решение по журналу изменений витрины  ·  30 мин юриста на классификацию ИП / юрлицо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56A5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Качество данных в контуре приёмки ЕГАИС</dc:title>
  <dc:subject/>
  <dc:creator>SerDizRu</dc:creator>
  <cp:keywords/>
  <cp:lastModifiedBy>SerDizRu</cp:lastModifiedBy>
  <cp:revision>1</cp:revision>
  <dcterms:created xsi:type="dcterms:W3CDTF">2026-09-07T21:26:55Z</dcterms:created>
  <dcterms:modified xsi:type="dcterms:W3CDTF">2013-01-27T09:15:58Z</dcterms:modified>
  <cp:category/>
</cp:coreProperties>
</file>